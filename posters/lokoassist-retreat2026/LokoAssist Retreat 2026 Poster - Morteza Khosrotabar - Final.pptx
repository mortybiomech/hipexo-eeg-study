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79975" cy="42808525"/>
  <p:notesSz cx="6797675" cy="992822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00">
          <p15:clr>
            <a:srgbClr val="A4A3A4"/>
          </p15:clr>
        </p15:guide>
        <p15:guide id="2" orient="horz" pos="25413">
          <p15:clr>
            <a:srgbClr val="A4A3A4"/>
          </p15:clr>
        </p15:guide>
        <p15:guide id="3" pos="18382">
          <p15:clr>
            <a:srgbClr val="A4A3A4"/>
          </p15:clr>
        </p15:guide>
        <p15:guide id="4" pos="6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tin Schüßler" initials="" lastIdx="1" clrIdx="0"/>
  <p:cmAuthor id="1" name="Giere" initials="" lastIdx="1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441F"/>
    <a:srgbClr val="B8C0C8"/>
    <a:srgbClr val="5F6B7A"/>
    <a:srgbClr val="904256"/>
    <a:srgbClr val="E29C23"/>
    <a:srgbClr val="006FB0"/>
    <a:srgbClr val="EAF6FA"/>
    <a:srgbClr val="7FD1E7"/>
    <a:srgbClr val="00A3D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65" autoAdjust="0"/>
    <p:restoredTop sz="50000" autoAdjust="0"/>
  </p:normalViewPr>
  <p:slideViewPr>
    <p:cSldViewPr>
      <p:cViewPr>
        <p:scale>
          <a:sx n="50" d="100"/>
          <a:sy n="50" d="100"/>
        </p:scale>
        <p:origin x="1448" y="-6520"/>
      </p:cViewPr>
      <p:guideLst>
        <p:guide orient="horz" pos="22600"/>
        <p:guide orient="horz" pos="25413"/>
        <p:guide pos="18382"/>
        <p:guide pos="6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14" y="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ziar Sharbafi" userId="53326bc8a7dbb542" providerId="LiveId" clId="{E0E3CABD-B80D-4447-AE18-281D993267F6}"/>
    <pc:docChg chg="undo custSel modSld modMainMaster">
      <pc:chgData name="Maziar Sharbafi" userId="53326bc8a7dbb542" providerId="LiveId" clId="{E0E3CABD-B80D-4447-AE18-281D993267F6}" dt="2023-04-03T21:04:25.225" v="748" actId="1076"/>
      <pc:docMkLst>
        <pc:docMk/>
      </pc:docMkLst>
      <pc:sldChg chg="addSp delSp modSp">
        <pc:chgData name="Maziar Sharbafi" userId="53326bc8a7dbb542" providerId="LiveId" clId="{E0E3CABD-B80D-4447-AE18-281D993267F6}" dt="2023-04-03T21:04:25.225" v="748" actId="1076"/>
        <pc:sldMkLst>
          <pc:docMk/>
          <pc:sldMk cId="552780330" sldId="258"/>
        </pc:sldMkLst>
        <pc:spChg chg="mod">
          <ac:chgData name="Maziar Sharbafi" userId="53326bc8a7dbb542" providerId="LiveId" clId="{E0E3CABD-B80D-4447-AE18-281D993267F6}" dt="2023-04-03T21:04:25.225" v="748" actId="1076"/>
          <ac:spMkLst>
            <pc:docMk/>
            <pc:sldMk cId="552780330" sldId="258"/>
            <ac:spMk id="10" creationId="{00000000-0000-0000-0000-000000000000}"/>
          </ac:spMkLst>
        </pc:spChg>
        <pc:spChg chg="del mod">
          <ac:chgData name="Maziar Sharbafi" userId="53326bc8a7dbb542" providerId="LiveId" clId="{E0E3CABD-B80D-4447-AE18-281D993267F6}" dt="2023-04-03T20:49:59.564" v="88" actId="478"/>
          <ac:spMkLst>
            <pc:docMk/>
            <pc:sldMk cId="552780330" sldId="258"/>
            <ac:spMk id="20" creationId="{D299696D-4605-4178-B7C1-C664998B207B}"/>
          </ac:spMkLst>
        </pc:spChg>
        <pc:spChg chg="mod">
          <ac:chgData name="Maziar Sharbafi" userId="53326bc8a7dbb542" providerId="LiveId" clId="{E0E3CABD-B80D-4447-AE18-281D993267F6}" dt="2023-04-03T20:58:33.184" v="467" actId="20577"/>
          <ac:spMkLst>
            <pc:docMk/>
            <pc:sldMk cId="552780330" sldId="258"/>
            <ac:spMk id="21" creationId="{00000000-0000-0000-0000-000000000000}"/>
          </ac:spMkLst>
        </pc:spChg>
        <pc:spChg chg="mod">
          <ac:chgData name="Maziar Sharbafi" userId="53326bc8a7dbb542" providerId="LiveId" clId="{E0E3CABD-B80D-4447-AE18-281D993267F6}" dt="2023-04-03T20:59:08.106" v="516" actId="1036"/>
          <ac:spMkLst>
            <pc:docMk/>
            <pc:sldMk cId="552780330" sldId="258"/>
            <ac:spMk id="22" creationId="{A908A823-189F-4940-808C-D8E62F27BA79}"/>
          </ac:spMkLst>
        </pc:spChg>
        <pc:spChg chg="mod">
          <ac:chgData name="Maziar Sharbafi" userId="53326bc8a7dbb542" providerId="LiveId" clId="{E0E3CABD-B80D-4447-AE18-281D993267F6}" dt="2023-04-03T20:59:24.597" v="542" actId="14100"/>
          <ac:spMkLst>
            <pc:docMk/>
            <pc:sldMk cId="552780330" sldId="258"/>
            <ac:spMk id="29" creationId="{7DA0FA1D-642F-45F9-9C09-4D525C6A7D30}"/>
          </ac:spMkLst>
        </pc:spChg>
        <pc:spChg chg="mod">
          <ac:chgData name="Maziar Sharbafi" userId="53326bc8a7dbb542" providerId="LiveId" clId="{E0E3CABD-B80D-4447-AE18-281D993267F6}" dt="2023-04-03T21:00:13.325" v="550" actId="14100"/>
          <ac:spMkLst>
            <pc:docMk/>
            <pc:sldMk cId="552780330" sldId="258"/>
            <ac:spMk id="40" creationId="{FE14D22B-A2B0-5249-89A3-1EC5FABD8447}"/>
          </ac:spMkLst>
        </pc:spChg>
        <pc:spChg chg="mod">
          <ac:chgData name="Maziar Sharbafi" userId="53326bc8a7dbb542" providerId="LiveId" clId="{E0E3CABD-B80D-4447-AE18-281D993267F6}" dt="2023-04-03T20:59:14.420" v="541" actId="1036"/>
          <ac:spMkLst>
            <pc:docMk/>
            <pc:sldMk cId="552780330" sldId="258"/>
            <ac:spMk id="42" creationId="{7E8CB137-7182-5048-8602-51FBB6592578}"/>
          </ac:spMkLst>
        </pc:spChg>
        <pc:spChg chg="mod">
          <ac:chgData name="Maziar Sharbafi" userId="53326bc8a7dbb542" providerId="LiveId" clId="{E0E3CABD-B80D-4447-AE18-281D993267F6}" dt="2023-04-03T21:02:50.687" v="690"/>
          <ac:spMkLst>
            <pc:docMk/>
            <pc:sldMk cId="552780330" sldId="258"/>
            <ac:spMk id="45" creationId="{FDDEA820-6D47-1540-B6F1-62DCE0A53420}"/>
          </ac:spMkLst>
        </pc:spChg>
        <pc:spChg chg="mod">
          <ac:chgData name="Maziar Sharbafi" userId="53326bc8a7dbb542" providerId="LiveId" clId="{E0E3CABD-B80D-4447-AE18-281D993267F6}" dt="2023-04-03T21:02:57.642" v="693"/>
          <ac:spMkLst>
            <pc:docMk/>
            <pc:sldMk cId="552780330" sldId="258"/>
            <ac:spMk id="46" creationId="{07020185-41E6-E349-B192-C3E69DD02CB2}"/>
          </ac:spMkLst>
        </pc:spChg>
        <pc:spChg chg="add del mod">
          <ac:chgData name="Maziar Sharbafi" userId="53326bc8a7dbb542" providerId="LiveId" clId="{E0E3CABD-B80D-4447-AE18-281D993267F6}" dt="2023-04-03T20:48:22.547" v="81" actId="478"/>
          <ac:spMkLst>
            <pc:docMk/>
            <pc:sldMk cId="552780330" sldId="258"/>
            <ac:spMk id="48" creationId="{429CFB03-46F2-473D-B689-5ADE22D50C14}"/>
          </ac:spMkLst>
        </pc:spChg>
        <pc:spChg chg="mod">
          <ac:chgData name="Maziar Sharbafi" userId="53326bc8a7dbb542" providerId="LiveId" clId="{E0E3CABD-B80D-4447-AE18-281D993267F6}" dt="2023-04-03T21:03:29.066" v="701" actId="1035"/>
          <ac:spMkLst>
            <pc:docMk/>
            <pc:sldMk cId="552780330" sldId="258"/>
            <ac:spMk id="49" creationId="{AA877663-445A-6546-B7A6-FCF1A266F915}"/>
          </ac:spMkLst>
        </pc:spChg>
        <pc:spChg chg="add del mod">
          <ac:chgData name="Maziar Sharbafi" userId="53326bc8a7dbb542" providerId="LiveId" clId="{E0E3CABD-B80D-4447-AE18-281D993267F6}" dt="2023-04-03T20:50:22.956" v="99" actId="1037"/>
          <ac:spMkLst>
            <pc:docMk/>
            <pc:sldMk cId="552780330" sldId="258"/>
            <ac:spMk id="50" creationId="{0FC0877E-4162-4DF5-8D55-1A19AF8990B5}"/>
          </ac:spMkLst>
        </pc:spChg>
        <pc:spChg chg="add del">
          <ac:chgData name="Maziar Sharbafi" userId="53326bc8a7dbb542" providerId="LiveId" clId="{E0E3CABD-B80D-4447-AE18-281D993267F6}" dt="2023-04-03T20:51:51.937" v="178"/>
          <ac:spMkLst>
            <pc:docMk/>
            <pc:sldMk cId="552780330" sldId="258"/>
            <ac:spMk id="51" creationId="{48C8A861-5E8E-4F6E-86D6-34E699DA0460}"/>
          </ac:spMkLst>
        </pc:spChg>
        <pc:spChg chg="add mod">
          <ac:chgData name="Maziar Sharbafi" userId="53326bc8a7dbb542" providerId="LiveId" clId="{E0E3CABD-B80D-4447-AE18-281D993267F6}" dt="2023-04-03T21:01:42.658" v="684" actId="1035"/>
          <ac:spMkLst>
            <pc:docMk/>
            <pc:sldMk cId="552780330" sldId="258"/>
            <ac:spMk id="52" creationId="{EE7EBE7C-E8A5-4538-9CF8-7966E6D8255D}"/>
          </ac:spMkLst>
        </pc:spChg>
        <pc:spChg chg="add mod">
          <ac:chgData name="Maziar Sharbafi" userId="53326bc8a7dbb542" providerId="LiveId" clId="{E0E3CABD-B80D-4447-AE18-281D993267F6}" dt="2023-04-03T21:02:00.130" v="685" actId="14100"/>
          <ac:spMkLst>
            <pc:docMk/>
            <pc:sldMk cId="552780330" sldId="258"/>
            <ac:spMk id="53" creationId="{59D825C7-4559-4438-8D73-60E730D505DD}"/>
          </ac:spMkLst>
        </pc:spChg>
        <pc:spChg chg="add mod">
          <ac:chgData name="Maziar Sharbafi" userId="53326bc8a7dbb542" providerId="LiveId" clId="{E0E3CABD-B80D-4447-AE18-281D993267F6}" dt="2023-04-03T21:04:10.749" v="746" actId="20577"/>
          <ac:spMkLst>
            <pc:docMk/>
            <pc:sldMk cId="552780330" sldId="258"/>
            <ac:spMk id="54" creationId="{68CC67E3-3986-40A9-B6C6-FA15B744E7B4}"/>
          </ac:spMkLst>
        </pc:spChg>
        <pc:spChg chg="mod">
          <ac:chgData name="Maziar Sharbafi" userId="53326bc8a7dbb542" providerId="LiveId" clId="{E0E3CABD-B80D-4447-AE18-281D993267F6}" dt="2023-04-03T20:50:37.670" v="131" actId="20577"/>
          <ac:spMkLst>
            <pc:docMk/>
            <pc:sldMk cId="552780330" sldId="258"/>
            <ac:spMk id="215" creationId="{00000000-0000-0000-0000-000000000000}"/>
          </ac:spMkLst>
        </pc:spChg>
        <pc:spChg chg="mod">
          <ac:chgData name="Maziar Sharbafi" userId="53326bc8a7dbb542" providerId="LiveId" clId="{E0E3CABD-B80D-4447-AE18-281D993267F6}" dt="2023-04-03T20:51:10.129" v="176" actId="20577"/>
          <ac:spMkLst>
            <pc:docMk/>
            <pc:sldMk cId="552780330" sldId="258"/>
            <ac:spMk id="216" creationId="{00000000-0000-0000-0000-000000000000}"/>
          </ac:spMkLst>
        </pc:spChg>
        <pc:spChg chg="mod">
          <ac:chgData name="Maziar Sharbafi" userId="53326bc8a7dbb542" providerId="LiveId" clId="{E0E3CABD-B80D-4447-AE18-281D993267F6}" dt="2023-04-03T21:00:06.130" v="549" actId="1035"/>
          <ac:spMkLst>
            <pc:docMk/>
            <pc:sldMk cId="552780330" sldId="258"/>
            <ac:spMk id="394" creationId="{00000000-0000-0000-0000-000000000000}"/>
          </ac:spMkLst>
        </pc:spChg>
        <pc:spChg chg="mod">
          <ac:chgData name="Maziar Sharbafi" userId="53326bc8a7dbb542" providerId="LiveId" clId="{E0E3CABD-B80D-4447-AE18-281D993267F6}" dt="2023-04-03T21:01:27.568" v="676" actId="14100"/>
          <ac:spMkLst>
            <pc:docMk/>
            <pc:sldMk cId="552780330" sldId="258"/>
            <ac:spMk id="422" creationId="{00000000-0000-0000-0000-000000000000}"/>
          </ac:spMkLst>
        </pc:spChg>
        <pc:spChg chg="mod">
          <ac:chgData name="Maziar Sharbafi" userId="53326bc8a7dbb542" providerId="LiveId" clId="{E0E3CABD-B80D-4447-AE18-281D993267F6}" dt="2023-04-03T20:50:53.860" v="156" actId="20577"/>
          <ac:spMkLst>
            <pc:docMk/>
            <pc:sldMk cId="552780330" sldId="258"/>
            <ac:spMk id="2492" creationId="{00000000-0000-0000-0000-000000000000}"/>
          </ac:spMkLst>
        </pc:spChg>
        <pc:grpChg chg="mod">
          <ac:chgData name="Maziar Sharbafi" userId="53326bc8a7dbb542" providerId="LiveId" clId="{E0E3CABD-B80D-4447-AE18-281D993267F6}" dt="2023-04-03T20:58:56.283" v="497" actId="1037"/>
          <ac:grpSpMkLst>
            <pc:docMk/>
            <pc:sldMk cId="552780330" sldId="258"/>
            <ac:grpSpMk id="4" creationId="{1CDE5D4A-8241-4613-859E-0241F79E637A}"/>
          </ac:grpSpMkLst>
        </pc:grpChg>
      </pc:sldChg>
      <pc:sldMasterChg chg="addSp delSp modSp">
        <pc:chgData name="Maziar Sharbafi" userId="53326bc8a7dbb542" providerId="LiveId" clId="{E0E3CABD-B80D-4447-AE18-281D993267F6}" dt="2023-04-03T20:46:51.743" v="71" actId="21"/>
        <pc:sldMasterMkLst>
          <pc:docMk/>
          <pc:sldMasterMk cId="0" sldId="2147483648"/>
        </pc:sldMasterMkLst>
        <pc:spChg chg="del mod">
          <ac:chgData name="Maziar Sharbafi" userId="53326bc8a7dbb542" providerId="LiveId" clId="{E0E3CABD-B80D-4447-AE18-281D993267F6}" dt="2023-04-03T20:44:17.856" v="28" actId="478"/>
          <ac:spMkLst>
            <pc:docMk/>
            <pc:sldMasterMk cId="0" sldId="2147483648"/>
            <ac:spMk id="7" creationId="{F7166DD6-2592-4D7A-B084-0CACEEC89AD6}"/>
          </ac:spMkLst>
        </pc:spChg>
        <pc:spChg chg="add del">
          <ac:chgData name="Maziar Sharbafi" userId="53326bc8a7dbb542" providerId="LiveId" clId="{E0E3CABD-B80D-4447-AE18-281D993267F6}" dt="2023-04-03T20:46:51.743" v="71" actId="21"/>
          <ac:spMkLst>
            <pc:docMk/>
            <pc:sldMasterMk cId="0" sldId="2147483648"/>
            <ac:spMk id="13" creationId="{A843CC73-3A49-4C70-AD06-E3D40F179653}"/>
          </ac:spMkLst>
        </pc:spChg>
        <pc:spChg chg="add mod">
          <ac:chgData name="Maziar Sharbafi" userId="53326bc8a7dbb542" providerId="LiveId" clId="{E0E3CABD-B80D-4447-AE18-281D993267F6}" dt="2023-04-03T20:45:57.917" v="60" actId="404"/>
          <ac:spMkLst>
            <pc:docMk/>
            <pc:sldMasterMk cId="0" sldId="2147483648"/>
            <ac:spMk id="14" creationId="{0DE8D759-8A54-405B-B604-F0A4375570EA}"/>
          </ac:spMkLst>
        </pc:spChg>
        <pc:picChg chg="add mod">
          <ac:chgData name="Maziar Sharbafi" userId="53326bc8a7dbb542" providerId="LiveId" clId="{E0E3CABD-B80D-4447-AE18-281D993267F6}" dt="2023-04-03T20:42:38.727" v="21" actId="1076"/>
          <ac:picMkLst>
            <pc:docMk/>
            <pc:sldMasterMk cId="0" sldId="2147483648"/>
            <ac:picMk id="3" creationId="{A77A0F35-C23F-4E97-9857-19113CCA7682}"/>
          </ac:picMkLst>
        </pc:picChg>
        <pc:picChg chg="mod modCrop">
          <ac:chgData name="Maziar Sharbafi" userId="53326bc8a7dbb542" providerId="LiveId" clId="{E0E3CABD-B80D-4447-AE18-281D993267F6}" dt="2023-04-03T20:46:12.835" v="68" actId="1036"/>
          <ac:picMkLst>
            <pc:docMk/>
            <pc:sldMasterMk cId="0" sldId="2147483648"/>
            <ac:picMk id="11" creationId="{0968A59F-8BF1-4EA9-8747-D3BEE404F4C4}"/>
          </ac:picMkLst>
        </pc:picChg>
        <pc:picChg chg="del">
          <ac:chgData name="Maziar Sharbafi" userId="53326bc8a7dbb542" providerId="LiveId" clId="{E0E3CABD-B80D-4447-AE18-281D993267F6}" dt="2023-04-03T20:42:03.349" v="16" actId="478"/>
          <ac:picMkLst>
            <pc:docMk/>
            <pc:sldMasterMk cId="0" sldId="2147483648"/>
            <ac:picMk id="12" creationId="{2938DBFB-55CF-40F4-9E03-7C2D9820591B}"/>
          </ac:picMkLst>
        </pc:picChg>
        <pc:picChg chg="mod">
          <ac:chgData name="Maziar Sharbafi" userId="53326bc8a7dbb542" providerId="LiveId" clId="{E0E3CABD-B80D-4447-AE18-281D993267F6}" dt="2023-04-03T20:42:08.507" v="17" actId="1076"/>
          <ac:picMkLst>
            <pc:docMk/>
            <pc:sldMasterMk cId="0" sldId="2147483648"/>
            <ac:picMk id="18" creationId="{D52C9DBC-57C7-9EE3-510C-8080616CE433}"/>
          </ac:picMkLst>
        </pc:picChg>
      </pc:sldMasterChg>
    </pc:docChg>
  </pc:docChgLst>
  <pc:docChgLst>
    <pc:chgData name="Maziar Sharbafi" userId="53326bc8a7dbb542" providerId="LiveId" clId="{31EB85E3-F0E7-4F3A-8714-86E8FA5F4B3E}"/>
    <pc:docChg chg="undo delSld modSld modMainMaster">
      <pc:chgData name="Maziar Sharbafi" userId="53326bc8a7dbb542" providerId="LiveId" clId="{31EB85E3-F0E7-4F3A-8714-86E8FA5F4B3E}" dt="2023-04-01T12:19:42.183" v="9" actId="20577"/>
      <pc:docMkLst>
        <pc:docMk/>
      </pc:docMkLst>
      <pc:sldChg chg="modSp">
        <pc:chgData name="Maziar Sharbafi" userId="53326bc8a7dbb542" providerId="LiveId" clId="{31EB85E3-F0E7-4F3A-8714-86E8FA5F4B3E}" dt="2023-04-01T12:19:21.041" v="2" actId="6549"/>
        <pc:sldMkLst>
          <pc:docMk/>
          <pc:sldMk cId="552780330" sldId="258"/>
        </pc:sldMkLst>
        <pc:spChg chg="mod">
          <ac:chgData name="Maziar Sharbafi" userId="53326bc8a7dbb542" providerId="LiveId" clId="{31EB85E3-F0E7-4F3A-8714-86E8FA5F4B3E}" dt="2023-04-01T12:19:21.041" v="2" actId="6549"/>
          <ac:spMkLst>
            <pc:docMk/>
            <pc:sldMk cId="552780330" sldId="258"/>
            <ac:spMk id="20" creationId="{D299696D-4605-4178-B7C1-C664998B207B}"/>
          </ac:spMkLst>
        </pc:spChg>
      </pc:sldChg>
      <pc:sldMasterChg chg="modSp">
        <pc:chgData name="Maziar Sharbafi" userId="53326bc8a7dbb542" providerId="LiveId" clId="{31EB85E3-F0E7-4F3A-8714-86E8FA5F4B3E}" dt="2023-04-01T12:19:42.183" v="9" actId="20577"/>
        <pc:sldMasterMkLst>
          <pc:docMk/>
          <pc:sldMasterMk cId="0" sldId="2147483648"/>
        </pc:sldMasterMkLst>
        <pc:spChg chg="mod">
          <ac:chgData name="Maziar Sharbafi" userId="53326bc8a7dbb542" providerId="LiveId" clId="{31EB85E3-F0E7-4F3A-8714-86E8FA5F4B3E}" dt="2023-04-01T12:19:42.183" v="9" actId="20577"/>
          <ac:spMkLst>
            <pc:docMk/>
            <pc:sldMasterMk cId="0" sldId="2147483648"/>
            <ac:spMk id="13" creationId="{A843CC73-3A49-4C70-AD06-E3D40F179653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2945772" cy="496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94" tIns="9997" rIns="19994" bIns="9997" numCol="1" anchor="t" anchorCtr="0" compatLnSpc="1">
            <a:prstTxWarp prst="textNoShape">
              <a:avLst/>
            </a:prstTxWarp>
          </a:bodyPr>
          <a:lstStyle>
            <a:lvl1pPr>
              <a:defRPr sz="300"/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552" y="0"/>
            <a:ext cx="2945434" cy="496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94" tIns="9997" rIns="19994" bIns="9997" numCol="1" anchor="t" anchorCtr="0" compatLnSpc="1">
            <a:prstTxWarp prst="textNoShape">
              <a:avLst/>
            </a:prstTxWarp>
          </a:bodyPr>
          <a:lstStyle>
            <a:lvl1pPr algn="r">
              <a:defRPr sz="300"/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30467"/>
            <a:ext cx="2945772" cy="496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94" tIns="9997" rIns="19994" bIns="9997" numCol="1" anchor="b" anchorCtr="0" compatLnSpc="1">
            <a:prstTxWarp prst="textNoShape">
              <a:avLst/>
            </a:prstTxWarp>
          </a:bodyPr>
          <a:lstStyle>
            <a:lvl1pPr>
              <a:defRPr sz="300"/>
            </a:lvl1pPr>
          </a:lstStyle>
          <a:p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552" y="9430467"/>
            <a:ext cx="2945434" cy="496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94" tIns="9997" rIns="19994" bIns="9997" numCol="1" anchor="b" anchorCtr="0" compatLnSpc="1">
            <a:prstTxWarp prst="textNoShape">
              <a:avLst/>
            </a:prstTxWarp>
          </a:bodyPr>
          <a:lstStyle>
            <a:lvl1pPr algn="r">
              <a:defRPr sz="300"/>
            </a:lvl1pPr>
          </a:lstStyle>
          <a:p>
            <a:fld id="{1C869D6F-193F-415B-ABDE-602F8373D9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587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45772" cy="495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8" tIns="45669" rIns="91338" bIns="45669" numCol="1" anchor="t" anchorCtr="0" compatLnSpc="1">
            <a:prstTxWarp prst="textNoShape">
              <a:avLst/>
            </a:prstTxWarp>
          </a:bodyPr>
          <a:lstStyle>
            <a:lvl1pPr defTabSz="913936">
              <a:defRPr sz="1200"/>
            </a:lvl1pPr>
          </a:lstStyle>
          <a:p>
            <a:endParaRPr lang="zh-CN" alt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893" y="2"/>
            <a:ext cx="2945097" cy="495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8" tIns="45669" rIns="91338" bIns="45669" numCol="1" anchor="t" anchorCtr="0" compatLnSpc="1">
            <a:prstTxWarp prst="textNoShape">
              <a:avLst/>
            </a:prstTxWarp>
          </a:bodyPr>
          <a:lstStyle>
            <a:lvl1pPr algn="r" defTabSz="913936">
              <a:defRPr sz="1200"/>
            </a:lvl1pPr>
          </a:lstStyle>
          <a:p>
            <a:endParaRPr lang="de-DE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82800" y="744538"/>
            <a:ext cx="2632075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DE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32" y="4716124"/>
            <a:ext cx="5438816" cy="4466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8" tIns="45669" rIns="91338" bIns="456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/>
              <a:t>Textmasterformate durch Klicken bearbeiten</a:t>
            </a:r>
          </a:p>
          <a:p>
            <a:pPr lvl="1"/>
            <a:r>
              <a:rPr lang="de-DE" altLang="zh-CN"/>
              <a:t>Zweite Ebene</a:t>
            </a:r>
          </a:p>
          <a:p>
            <a:pPr lvl="2"/>
            <a:r>
              <a:rPr lang="de-DE" altLang="zh-CN"/>
              <a:t>Dritte Ebene</a:t>
            </a:r>
          </a:p>
          <a:p>
            <a:pPr lvl="3"/>
            <a:r>
              <a:rPr lang="de-DE" altLang="zh-CN"/>
              <a:t>Vierte Ebene</a:t>
            </a:r>
          </a:p>
          <a:p>
            <a:pPr lvl="4"/>
            <a:r>
              <a:rPr lang="de-DE" altLang="zh-CN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30820"/>
            <a:ext cx="2945772" cy="49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8" tIns="45669" rIns="91338" bIns="45669" numCol="1" anchor="b" anchorCtr="0" compatLnSpc="1">
            <a:prstTxWarp prst="textNoShape">
              <a:avLst/>
            </a:prstTxWarp>
          </a:bodyPr>
          <a:lstStyle>
            <a:lvl1pPr defTabSz="913936">
              <a:defRPr sz="1200"/>
            </a:lvl1pPr>
          </a:lstStyle>
          <a:p>
            <a:endParaRPr lang="de-DE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893" y="9430820"/>
            <a:ext cx="2945097" cy="49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8" tIns="45669" rIns="91338" bIns="45669" numCol="1" anchor="b" anchorCtr="0" compatLnSpc="1">
            <a:prstTxWarp prst="textNoShape">
              <a:avLst/>
            </a:prstTxWarp>
          </a:bodyPr>
          <a:lstStyle>
            <a:lvl1pPr algn="r" defTabSz="913936">
              <a:defRPr sz="1200"/>
            </a:lvl1pPr>
          </a:lstStyle>
          <a:p>
            <a:fld id="{4488FD45-8503-4C4E-84A3-E25049B7544A}" type="slidenum">
              <a:rPr lang="zh-CN" altLang="de-DE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35209869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CFB995-AF34-4AD5-986D-48D817954CF1}" type="slidenum">
              <a:rPr lang="zh-CN" altLang="de-DE"/>
              <a:pPr/>
              <a:t>1</a:t>
            </a:fld>
            <a:endParaRPr lang="de-DE" altLang="zh-CN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7591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gi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9">
            <a:extLst>
              <a:ext uri="{FF2B5EF4-FFF2-40B4-BE49-F238E27FC236}">
                <a16:creationId xmlns:a16="http://schemas.microsoft.com/office/drawing/2014/main" id="{BA97082A-D349-BD2A-D9A3-B4111E3C33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0279976" cy="5058325"/>
          </a:xfrm>
          <a:prstGeom prst="rect">
            <a:avLst/>
          </a:prstGeom>
        </p:spPr>
      </p:pic>
      <p:sp>
        <p:nvSpPr>
          <p:cNvPr id="1062" name="Line 38"/>
          <p:cNvSpPr>
            <a:spLocks noChangeShapeType="1"/>
          </p:cNvSpPr>
          <p:nvPr userDrawn="1"/>
        </p:nvSpPr>
        <p:spPr bwMode="auto">
          <a:xfrm flipV="1">
            <a:off x="1080000" y="40414251"/>
            <a:ext cx="28116000" cy="12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Line 10"/>
          <p:cNvSpPr>
            <a:spLocks noChangeShapeType="1"/>
          </p:cNvSpPr>
          <p:nvPr userDrawn="1"/>
        </p:nvSpPr>
        <p:spPr bwMode="auto">
          <a:xfrm flipV="1">
            <a:off x="1080000" y="4410374"/>
            <a:ext cx="28116000" cy="0"/>
          </a:xfrm>
          <a:prstGeom prst="line">
            <a:avLst/>
          </a:prstGeom>
          <a:ln w="57150">
            <a:solidFill>
              <a:schemeClr val="accent1"/>
            </a:solidFill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sz="40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D52C9DBC-57C7-9EE3-510C-8080616CE43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3115" y="233910"/>
            <a:ext cx="4104456" cy="4104456"/>
          </a:xfrm>
          <a:prstGeom prst="rect">
            <a:avLst/>
          </a:prstGeom>
        </p:spPr>
      </p:pic>
      <p:pic>
        <p:nvPicPr>
          <p:cNvPr id="11" name="Google Shape;62;p14">
            <a:extLst>
              <a:ext uri="{FF2B5EF4-FFF2-40B4-BE49-F238E27FC236}">
                <a16:creationId xmlns:a16="http://schemas.microsoft.com/office/drawing/2014/main" id="{0968A59F-8BF1-4EA9-8747-D3BEE404F4C4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6">
            <a:alphaModFix/>
          </a:blip>
          <a:srcRect l="-2" t="-1" r="-561" b="-13469"/>
          <a:stretch/>
        </p:blipFill>
        <p:spPr>
          <a:xfrm>
            <a:off x="1023144" y="40488945"/>
            <a:ext cx="8068171" cy="2013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7A0F35-C23F-4E97-9857-19113CCA768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1544" y="41212602"/>
            <a:ext cx="4104456" cy="530005"/>
          </a:xfrm>
          <a:prstGeom prst="rect">
            <a:avLst/>
          </a:prstGeom>
        </p:spPr>
      </p:pic>
      <p:sp>
        <p:nvSpPr>
          <p:cNvPr id="14" name="Textfeld 25">
            <a:extLst>
              <a:ext uri="{FF2B5EF4-FFF2-40B4-BE49-F238E27FC236}">
                <a16:creationId xmlns:a16="http://schemas.microsoft.com/office/drawing/2014/main" id="{0DE8D759-8A54-405B-B604-F0A4375570EA}"/>
              </a:ext>
            </a:extLst>
          </p:cNvPr>
          <p:cNvSpPr txBox="1"/>
          <p:nvPr userDrawn="1"/>
        </p:nvSpPr>
        <p:spPr bwMode="auto">
          <a:xfrm>
            <a:off x="9235331" y="40866756"/>
            <a:ext cx="13177464" cy="122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rtlCol="0" anchor="ctr">
            <a:noAutofit/>
          </a:bodyPr>
          <a:lstStyle/>
          <a:p>
            <a:pPr algn="ctr" eaLnBrk="1" hangingPunct="1"/>
            <a:r>
              <a:rPr lang="de-DE" sz="4000" b="1" dirty="0">
                <a:solidFill>
                  <a:srgbClr val="5D7426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Research Training Group LokoAssist (GRK 2761)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2pPr>
      <a:lvl3pPr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3pPr>
      <a:lvl4pPr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4pPr>
      <a:lvl5pPr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5pPr>
      <a:lvl6pPr marL="4572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6pPr>
      <a:lvl7pPr marL="9144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7pPr>
      <a:lvl8pPr marL="13716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8pPr>
      <a:lvl9pPr marL="18288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9pPr>
    </p:titleStyle>
    <p:bodyStyle>
      <a:lvl1pPr marL="1566863" indent="-1566863" algn="l" defTabSz="4176713" rtl="0" fontAlgn="base">
        <a:spcBef>
          <a:spcPct val="20000"/>
        </a:spcBef>
        <a:spcAft>
          <a:spcPct val="0"/>
        </a:spcAft>
        <a:buChar char="•"/>
        <a:defRPr sz="14600">
          <a:solidFill>
            <a:schemeClr val="tx1"/>
          </a:solidFill>
          <a:latin typeface="+mn-lt"/>
          <a:ea typeface="+mn-ea"/>
          <a:cs typeface="+mn-cs"/>
        </a:defRPr>
      </a:lvl1pPr>
      <a:lvl2pPr marL="3394075" indent="-1306513" algn="l" defTabSz="4176713" rtl="0" fontAlgn="base">
        <a:spcBef>
          <a:spcPct val="20000"/>
        </a:spcBef>
        <a:spcAft>
          <a:spcPct val="0"/>
        </a:spcAft>
        <a:buChar char="–"/>
        <a:defRPr sz="12800">
          <a:solidFill>
            <a:schemeClr val="tx1"/>
          </a:solidFill>
          <a:latin typeface="+mn-lt"/>
        </a:defRPr>
      </a:lvl2pPr>
      <a:lvl3pPr marL="5221288" indent="-1044575" algn="l" defTabSz="4176713" rtl="0" fontAlgn="base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</a:defRPr>
      </a:lvl3pPr>
      <a:lvl4pPr marL="7308850" indent="-1044575" algn="l" defTabSz="4176713" rtl="0" fontAlgn="base">
        <a:spcBef>
          <a:spcPct val="20000"/>
        </a:spcBef>
        <a:spcAft>
          <a:spcPct val="0"/>
        </a:spcAft>
        <a:buChar char="–"/>
        <a:defRPr sz="9100">
          <a:solidFill>
            <a:schemeClr val="tx1"/>
          </a:solidFill>
          <a:latin typeface="+mn-lt"/>
        </a:defRPr>
      </a:lvl4pPr>
      <a:lvl5pPr marL="93964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5pPr>
      <a:lvl6pPr marL="98536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6pPr>
      <a:lvl7pPr marL="103108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7pPr>
      <a:lvl8pPr marL="107680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8pPr>
      <a:lvl9pPr marL="112252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Figure 144" descr="Study 2 setup illustration: a participant walks on a treadmill wearing a hip exoskeleton, an EEG cap, a breathing mask and muscle and motion sensors on both le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692" y="23300734"/>
            <a:ext cx="4063662" cy="6668925"/>
          </a:xfrm>
          <a:prstGeom prst="rect">
            <a:avLst/>
          </a:prstGeom>
        </p:spPr>
      </p:pic>
      <p:sp>
        <p:nvSpPr>
          <p:cNvPr id="104" name="Text 104"/>
          <p:cNvSpPr txBox="1"/>
          <p:nvPr/>
        </p:nvSpPr>
        <p:spPr>
          <a:xfrm>
            <a:off x="1076325" y="3591966"/>
            <a:ext cx="16439926" cy="550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33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FFFFFF"/>
                </a:solidFill>
                <a:latin typeface="IBM Plex Sans "/>
              </a:rPr>
              <a:t>Advisors: Prof. Dr. André Seyfarth, Prof. Dr. Klaus Gramann, Dr. Maziar A. Sharbafi</a:t>
            </a:r>
          </a:p>
        </p:txBody>
      </p:sp>
      <p:sp>
        <p:nvSpPr>
          <p:cNvPr id="105" name="Box 105"/>
          <p:cNvSpPr/>
          <p:nvPr/>
        </p:nvSpPr>
        <p:spPr>
          <a:xfrm>
            <a:off x="1114425" y="5524500"/>
            <a:ext cx="28041600" cy="7524750"/>
          </a:xfrm>
          <a:prstGeom prst="rect">
            <a:avLst/>
          </a:prstGeom>
          <a:noFill/>
          <a:ln w="76200">
            <a:solidFill>
              <a:srgbClr val="4D4D4D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06" name="Box 106"/>
          <p:cNvSpPr/>
          <p:nvPr/>
        </p:nvSpPr>
        <p:spPr>
          <a:xfrm>
            <a:off x="1152525" y="5562600"/>
            <a:ext cx="27965400" cy="895350"/>
          </a:xfrm>
          <a:prstGeom prst="rect">
            <a:avLst/>
          </a:prstGeom>
          <a:solidFill>
            <a:srgbClr val="00A3D0">
              <a:alpha val="50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07" name="Text 107"/>
          <p:cNvSpPr txBox="1"/>
          <p:nvPr/>
        </p:nvSpPr>
        <p:spPr>
          <a:xfrm>
            <a:off x="1152525" y="5562600"/>
            <a:ext cx="27984450" cy="933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25" b="1" dirty="0">
                <a:solidFill>
                  <a:srgbClr val="000000"/>
                </a:solidFill>
                <a:latin typeface="Newsreader 60pt SemiBold" panose="02000000000000000000" pitchFamily="2" charset="0"/>
                <a:cs typeface="Arial"/>
              </a:rPr>
              <a:t>Motivation and Research Challenge</a:t>
            </a:r>
            <a:endParaRPr lang="en-GB" sz="5025" dirty="0">
              <a:latin typeface="Newsreader 60pt SemiBold" panose="02000000000000000000" pitchFamily="2" charset="0"/>
            </a:endParaRPr>
          </a:p>
        </p:txBody>
      </p:sp>
      <p:sp>
        <p:nvSpPr>
          <p:cNvPr id="108" name="Text 108"/>
          <p:cNvSpPr txBox="1"/>
          <p:nvPr/>
        </p:nvSpPr>
        <p:spPr>
          <a:xfrm>
            <a:off x="1638300" y="6810375"/>
            <a:ext cx="11701487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007493"/>
                </a:solidFill>
                <a:latin typeface="Newsreader 60pt SemiBold" panose="02000000000000000000" pitchFamily="2" charset="0"/>
                <a:cs typeface="Inter"/>
              </a:rPr>
              <a:t>The problem</a:t>
            </a:r>
            <a:endParaRPr lang="en-GB" sz="4000" dirty="0">
              <a:latin typeface="Newsreader 60pt SemiBold" panose="02000000000000000000" pitchFamily="2" charset="0"/>
            </a:endParaRPr>
          </a:p>
        </p:txBody>
      </p:sp>
      <p:sp>
        <p:nvSpPr>
          <p:cNvPr id="109" name="List 109"/>
          <p:cNvSpPr txBox="1"/>
          <p:nvPr/>
        </p:nvSpPr>
        <p:spPr>
          <a:xfrm>
            <a:off x="1638301" y="7553325"/>
            <a:ext cx="12553949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450056" indent="-450056" algn="l">
              <a:lnSpc>
                <a:spcPct val="107438"/>
              </a:lnSpc>
              <a:spcBef>
                <a:spcPts val="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Exoskeletons are usually tuned to save </a:t>
            </a:r>
            <a:r>
              <a:rPr lang="en-GB" sz="3000" dirty="0">
                <a:solidFill>
                  <a:srgbClr val="1F1F1F"/>
                </a:solidFill>
                <a:latin typeface="IBM Plex Sans SemiBold" panose="020B0503050203000203" pitchFamily="34" charset="0"/>
              </a:rPr>
              <a:t>energy</a:t>
            </a: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 or </a:t>
            </a:r>
            <a:r>
              <a:rPr lang="en-GB" sz="3000" dirty="0">
                <a:solidFill>
                  <a:srgbClr val="1F1F1F"/>
                </a:solidFill>
                <a:latin typeface="IBM Plex Sans SemiBold" panose="020B0503050203000203" pitchFamily="34" charset="0"/>
              </a:rPr>
              <a:t>muscle activity </a:t>
            </a: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[1]</a:t>
            </a:r>
            <a:endParaRPr lang="en-GB" sz="3000" dirty="0">
              <a:latin typeface="IBM Plex Sans Light" panose="020B0503050203000203" pitchFamily="34" charset="0"/>
            </a:endParaRPr>
          </a:p>
          <a:p>
            <a:pPr marL="450056" indent="-450056" algn="l">
              <a:lnSpc>
                <a:spcPct val="107438"/>
              </a:lnSpc>
              <a:spcBef>
                <a:spcPts val="75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But people decide whether to keep a device by </a:t>
            </a:r>
            <a:r>
              <a:rPr lang="en-GB" sz="3000" dirty="0">
                <a:solidFill>
                  <a:srgbClr val="1F1F1F"/>
                </a:solidFill>
                <a:latin typeface="IBM Plex Sans SemiBold" panose="020B0503050203000203" pitchFamily="34" charset="0"/>
              </a:rPr>
              <a:t>how it feels</a:t>
            </a:r>
          </a:p>
          <a:p>
            <a:pPr marL="450056" indent="-450056" algn="l">
              <a:lnSpc>
                <a:spcPct val="107438"/>
              </a:lnSpc>
              <a:spcBef>
                <a:spcPts val="75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Which factors do people actually weigh when they judge assistance? </a:t>
            </a:r>
            <a:r>
              <a:rPr lang="en-GB" sz="30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We do not know</a:t>
            </a: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.</a:t>
            </a:r>
            <a:endParaRPr lang="en-GB" sz="3000" dirty="0">
              <a:latin typeface="IBM Plex Sans Light" panose="020B0503050203000203" pitchFamily="34" charset="0"/>
            </a:endParaRPr>
          </a:p>
        </p:txBody>
      </p:sp>
      <p:sp>
        <p:nvSpPr>
          <p:cNvPr id="110" name="Text 110"/>
          <p:cNvSpPr txBox="1"/>
          <p:nvPr/>
        </p:nvSpPr>
        <p:spPr>
          <a:xfrm>
            <a:off x="1638300" y="10106025"/>
            <a:ext cx="11197431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17145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007493"/>
                </a:solidFill>
                <a:latin typeface="Newsreader 60pt SemiBold" panose="02000000000000000000" pitchFamily="2" charset="0"/>
              </a:rPr>
              <a:t>Why it matters</a:t>
            </a:r>
          </a:p>
        </p:txBody>
      </p:sp>
      <p:sp>
        <p:nvSpPr>
          <p:cNvPr id="111" name="List 111"/>
          <p:cNvSpPr txBox="1"/>
          <p:nvPr/>
        </p:nvSpPr>
        <p:spPr>
          <a:xfrm>
            <a:off x="1638300" y="11020425"/>
            <a:ext cx="12423775" cy="18240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450056" indent="-450056" algn="l">
              <a:lnSpc>
                <a:spcPct val="107438"/>
              </a:lnSpc>
              <a:spcBef>
                <a:spcPts val="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A device that saves energy but feels wrong will be rejected</a:t>
            </a:r>
            <a:endParaRPr lang="en-GB" sz="3000" dirty="0">
              <a:latin typeface="IBM Plex Sans Light" panose="020B0503050203000203" pitchFamily="34" charset="0"/>
            </a:endParaRPr>
          </a:p>
          <a:p>
            <a:pPr marL="450056" indent="-450056" algn="l">
              <a:lnSpc>
                <a:spcPct val="107438"/>
              </a:lnSpc>
              <a:spcBef>
                <a:spcPts val="75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Knowing the user’s own criteria allows assistance that people </a:t>
            </a:r>
            <a:r>
              <a:rPr lang="en-GB" sz="30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accept and want to use </a:t>
            </a:r>
            <a:r>
              <a:rPr lang="en-GB" sz="3000" dirty="0">
                <a:solidFill>
                  <a:srgbClr val="1F1F1F"/>
                </a:solidFill>
                <a:latin typeface="IBM Plex Sans Light" panose="020B0503050203000203" pitchFamily="34" charset="0"/>
                <a:cs typeface="Inter"/>
              </a:rPr>
              <a:t>[2]</a:t>
            </a:r>
            <a:endParaRPr lang="en-GB" sz="3000" dirty="0">
              <a:latin typeface="IBM Plex Sans Light" panose="020B0503050203000203" pitchFamily="34" charset="0"/>
            </a:endParaRPr>
          </a:p>
        </p:txBody>
      </p:sp>
      <p:sp>
        <p:nvSpPr>
          <p:cNvPr id="112" name="Box 112"/>
          <p:cNvSpPr/>
          <p:nvPr/>
        </p:nvSpPr>
        <p:spPr>
          <a:xfrm>
            <a:off x="15554325" y="6743700"/>
            <a:ext cx="13267182" cy="5957563"/>
          </a:xfrm>
          <a:prstGeom prst="roundRect">
            <a:avLst>
              <a:gd name="adj" fmla="val 6112"/>
            </a:avLst>
          </a:prstGeom>
          <a:solidFill>
            <a:srgbClr val="EAF6FA"/>
          </a:solidFill>
          <a:ln w="38100">
            <a:solidFill>
              <a:srgbClr val="007493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29" name="Box 129"/>
          <p:cNvSpPr/>
          <p:nvPr/>
        </p:nvSpPr>
        <p:spPr>
          <a:xfrm>
            <a:off x="1114425" y="13592175"/>
            <a:ext cx="13601700" cy="18253247"/>
          </a:xfrm>
          <a:prstGeom prst="rect">
            <a:avLst/>
          </a:prstGeom>
          <a:noFill/>
          <a:ln w="76200">
            <a:solidFill>
              <a:srgbClr val="4D4D4D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30" name="Box 130"/>
          <p:cNvSpPr/>
          <p:nvPr/>
        </p:nvSpPr>
        <p:spPr>
          <a:xfrm>
            <a:off x="1152525" y="13630275"/>
            <a:ext cx="13525500" cy="895350"/>
          </a:xfrm>
          <a:prstGeom prst="rect">
            <a:avLst/>
          </a:prstGeom>
          <a:solidFill>
            <a:srgbClr val="00A3D0">
              <a:alpha val="50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31" name="Text 131"/>
          <p:cNvSpPr txBox="1"/>
          <p:nvPr/>
        </p:nvSpPr>
        <p:spPr>
          <a:xfrm>
            <a:off x="1152525" y="13630275"/>
            <a:ext cx="13544550" cy="933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25" b="1" dirty="0">
                <a:solidFill>
                  <a:srgbClr val="000000"/>
                </a:solidFill>
                <a:latin typeface="Newsreader 60pt SemiBold" panose="02000000000000000000" pitchFamily="2" charset="0"/>
                <a:cs typeface="Arial"/>
              </a:rPr>
              <a:t>My Approach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1638300" y="14849475"/>
            <a:ext cx="12573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007493"/>
                </a:solidFill>
                <a:latin typeface="Newsreader 60pt SemiBold" panose="02000000000000000000" pitchFamily="2" charset="0"/>
                <a:cs typeface="Inter"/>
              </a:rPr>
              <a:t>Two studies: what makes a device feel right?</a:t>
            </a:r>
            <a:endParaRPr lang="en-GB" sz="4000" dirty="0">
              <a:latin typeface="Newsreader 60pt SemiBold" panose="02000000000000000000" pitchFamily="2" charset="0"/>
            </a:endParaRPr>
          </a:p>
        </p:txBody>
      </p:sp>
      <p:sp>
        <p:nvSpPr>
          <p:cNvPr id="134" name="Box 134"/>
          <p:cNvSpPr/>
          <p:nvPr/>
        </p:nvSpPr>
        <p:spPr>
          <a:xfrm>
            <a:off x="1638300" y="16320765"/>
            <a:ext cx="12553950" cy="762000"/>
          </a:xfrm>
          <a:prstGeom prst="rect">
            <a:avLst/>
          </a:prstGeom>
          <a:solidFill>
            <a:srgbClr val="007493"/>
          </a:solidFill>
          <a:ln>
            <a:noFill/>
          </a:ln>
        </p:spPr>
        <p:txBody>
          <a:bodyPr wrap="square" lIns="180000" tIns="0" rIns="0" bIns="0" rtlCol="0" anchor="ctr">
            <a:noAutofit/>
          </a:bodyPr>
          <a:lstStyle/>
          <a:p>
            <a:r>
              <a:rPr lang="en-GB" sz="3200" b="1" dirty="0">
                <a:solidFill>
                  <a:srgbClr val="FFFFFF"/>
                </a:solidFill>
                <a:latin typeface="IBM Plex Sans SemiBold" panose="020B0503050203000203" pitchFamily="34" charset="0"/>
                <a:cs typeface="Inter"/>
              </a:rPr>
              <a:t>Study 1 · done: knee exoskeleton, seated</a:t>
            </a:r>
            <a:endParaRPr lang="en-GB" sz="3200" dirty="0">
              <a:latin typeface="IBM Plex Sans SemiBold" panose="020B0503050203000203" pitchFamily="34" charset="0"/>
            </a:endParaRPr>
          </a:p>
        </p:txBody>
      </p:sp>
      <p:sp>
        <p:nvSpPr>
          <p:cNvPr id="139" name="Text 139"/>
          <p:cNvSpPr txBox="1"/>
          <p:nvPr/>
        </p:nvSpPr>
        <p:spPr>
          <a:xfrm>
            <a:off x="1638299" y="15606712"/>
            <a:ext cx="10765384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50" dirty="0">
                <a:solidFill>
                  <a:srgbClr val="4D4D4D"/>
                </a:solidFill>
                <a:latin typeface="IBM Plex Sans" panose="020B0503050203000203" pitchFamily="34" charset="0"/>
                <a:cs typeface="Inter"/>
              </a:rPr>
              <a:t>From a controlled single joint</a:t>
            </a:r>
            <a:r>
              <a:rPr lang="en-DE" sz="3150" dirty="0">
                <a:solidFill>
                  <a:srgbClr val="4D4D4D"/>
                </a:solidFill>
                <a:latin typeface="IBM Plex Sans" panose="020B0503050203000203" pitchFamily="34" charset="0"/>
                <a:cs typeface="Inter"/>
              </a:rPr>
              <a:t> movement</a:t>
            </a:r>
            <a:r>
              <a:rPr lang="en-GB" sz="3150" dirty="0">
                <a:solidFill>
                  <a:srgbClr val="4D4D4D"/>
                </a:solidFill>
                <a:latin typeface="IBM Plex Sans" panose="020B0503050203000203" pitchFamily="34" charset="0"/>
                <a:cs typeface="Inter"/>
              </a:rPr>
              <a:t> to </a:t>
            </a:r>
            <a:r>
              <a:rPr lang="en-GB" sz="3150" dirty="0">
                <a:solidFill>
                  <a:srgbClr val="4D4D4D"/>
                </a:solidFill>
                <a:latin typeface="IBM Plex Sans SemiBold" panose="020B0503050203000203" pitchFamily="34" charset="0"/>
                <a:cs typeface="Inter"/>
              </a:rPr>
              <a:t>natural walking</a:t>
            </a:r>
            <a:endParaRPr lang="en-GB" sz="3150" dirty="0">
              <a:latin typeface="IBM Plex Sans SemiBold" panose="020B0503050203000203" pitchFamily="34" charset="0"/>
            </a:endParaRPr>
          </a:p>
        </p:txBody>
      </p:sp>
      <p:sp>
        <p:nvSpPr>
          <p:cNvPr id="142" name="Box 142"/>
          <p:cNvSpPr/>
          <p:nvPr/>
        </p:nvSpPr>
        <p:spPr>
          <a:xfrm>
            <a:off x="1638300" y="22196350"/>
            <a:ext cx="12553950" cy="762000"/>
          </a:xfrm>
          <a:prstGeom prst="rect">
            <a:avLst/>
          </a:prstGeom>
          <a:solidFill>
            <a:srgbClr val="007493"/>
          </a:solidFill>
          <a:ln>
            <a:noFill/>
          </a:ln>
        </p:spPr>
        <p:txBody>
          <a:bodyPr wrap="square" lIns="180000" tIns="0" rIns="0" bIns="0" rtlCol="0" anchor="ctr">
            <a:noAutofit/>
          </a:bodyPr>
          <a:lstStyle/>
          <a:p>
            <a:r>
              <a:rPr lang="en-GB" sz="3200" b="1" dirty="0">
                <a:solidFill>
                  <a:srgbClr val="FFFFFF"/>
                </a:solidFill>
                <a:latin typeface="IBM Plex Sans SemiBold" panose="020B0503050203000203" pitchFamily="34" charset="0"/>
              </a:rPr>
              <a:t>Study 2 · starting now: hip exoskeleton, walking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5343517-5219-5AF1-EFEB-440696095998}"/>
              </a:ext>
            </a:extLst>
          </p:cNvPr>
          <p:cNvGrpSpPr/>
          <p:nvPr/>
        </p:nvGrpSpPr>
        <p:grpSpPr>
          <a:xfrm>
            <a:off x="1638297" y="25875783"/>
            <a:ext cx="9109201" cy="1299269"/>
            <a:chOff x="1720553" y="25254644"/>
            <a:chExt cx="9109201" cy="1299269"/>
          </a:xfrm>
        </p:grpSpPr>
        <p:pic>
          <p:nvPicPr>
            <p:cNvPr id="149" name="Graphic 14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9603" y="25254644"/>
              <a:ext cx="8858250" cy="533400"/>
            </a:xfrm>
            <a:prstGeom prst="rect">
              <a:avLst/>
            </a:prstGeom>
          </p:spPr>
        </p:pic>
        <p:sp>
          <p:nvSpPr>
            <p:cNvPr id="150" name="Text 150"/>
            <p:cNvSpPr txBox="1"/>
            <p:nvPr/>
          </p:nvSpPr>
          <p:spPr>
            <a:xfrm>
              <a:off x="1720553" y="25902642"/>
              <a:ext cx="1495425" cy="651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dirty="0">
                  <a:solidFill>
                    <a:srgbClr val="B82A26"/>
                  </a:solidFill>
                  <a:latin typeface="IBM Plex Sans SemiBold" panose="020B0503050203000203" pitchFamily="34" charset="0"/>
                  <a:cs typeface="Inter"/>
                </a:rPr>
                <a:t>High</a:t>
              </a:r>
              <a:br>
                <a:rPr sz="2400" dirty="0">
                  <a:latin typeface="IBM Plex Sans" panose="020B0503050203000203" pitchFamily="34" charset="0"/>
                </a:rPr>
              </a:br>
              <a:r>
                <a:rPr lang="en-GB" sz="2400" dirty="0">
                  <a:solidFill>
                    <a:srgbClr val="4D4D4D"/>
                  </a:solidFill>
                  <a:latin typeface="IBM Plex Sans" panose="020B0503050203000203" pitchFamily="34" charset="0"/>
                  <a:cs typeface="Inter"/>
                </a:rPr>
                <a:t>resist</a:t>
              </a:r>
              <a:endParaRPr lang="en-GB" sz="2400" dirty="0">
                <a:latin typeface="IBM Plex Sans" panose="020B0503050203000203" pitchFamily="34" charset="0"/>
              </a:endParaRP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3196928" y="25902642"/>
              <a:ext cx="1495425" cy="651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dirty="0">
                  <a:solidFill>
                    <a:srgbClr val="B8473D"/>
                  </a:solidFill>
                  <a:latin typeface="IBM Plex Sans SemiBold" panose="020B0503050203000203" pitchFamily="34" charset="0"/>
                  <a:cs typeface="Inter"/>
                </a:rPr>
                <a:t>Low</a:t>
              </a:r>
              <a:br>
                <a:rPr lang="en-GB" sz="2400" dirty="0">
                  <a:latin typeface="IBM Plex Sans" panose="020B0503050203000203" pitchFamily="34" charset="0"/>
                </a:rPr>
              </a:br>
              <a:r>
                <a:rPr lang="en-GB" sz="2400" dirty="0">
                  <a:solidFill>
                    <a:srgbClr val="4D4D4D"/>
                  </a:solidFill>
                  <a:latin typeface="IBM Plex Sans" panose="020B0503050203000203" pitchFamily="34" charset="0"/>
                  <a:cs typeface="Inter"/>
                </a:rPr>
                <a:t>resist</a:t>
              </a:r>
              <a:endParaRPr lang="en-GB" sz="2400" dirty="0">
                <a:latin typeface="IBM Plex Sans" panose="020B0503050203000203" pitchFamily="34" charset="0"/>
              </a:endParaRP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4673303" y="25902642"/>
              <a:ext cx="1495425" cy="651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dirty="0">
                  <a:solidFill>
                    <a:srgbClr val="4D4D4D"/>
                  </a:solidFill>
                  <a:latin typeface="IBM Plex Sans SemiBold" panose="020B0503050203000203" pitchFamily="34" charset="0"/>
                  <a:cs typeface="Inter"/>
                </a:rPr>
                <a:t>Zero</a:t>
              </a:r>
              <a:br>
                <a:rPr sz="2400" dirty="0">
                  <a:latin typeface="IBM Plex Sans" panose="020B0503050203000203" pitchFamily="34" charset="0"/>
                </a:rPr>
              </a:br>
              <a:r>
                <a:rPr lang="en-GB" sz="2400" dirty="0">
                  <a:solidFill>
                    <a:srgbClr val="4D4D4D"/>
                  </a:solidFill>
                  <a:latin typeface="IBM Plex Sans" panose="020B0503050203000203" pitchFamily="34" charset="0"/>
                  <a:cs typeface="Inter"/>
                </a:rPr>
                <a:t>torque</a:t>
              </a:r>
              <a:endParaRPr lang="en-GB" sz="2400" dirty="0">
                <a:latin typeface="IBM Plex Sans" panose="020B0503050203000203" pitchFamily="34" charset="0"/>
              </a:endParaRP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6149678" y="25902642"/>
              <a:ext cx="1495425" cy="651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3F72B8"/>
                  </a:solidFill>
                  <a:latin typeface="IBM Plex Sans SemiBold" panose="020B0503050203000203" pitchFamily="34" charset="0"/>
                  <a:cs typeface="Inter"/>
                </a:rPr>
                <a:t>Low</a:t>
              </a:r>
              <a:br>
                <a:rPr sz="2400" dirty="0">
                  <a:latin typeface="IBM Plex Sans" panose="020B0503050203000203" pitchFamily="34" charset="0"/>
                </a:rPr>
              </a:br>
              <a:r>
                <a:rPr lang="en-GB" sz="2400" dirty="0">
                  <a:solidFill>
                    <a:srgbClr val="4D4D4D"/>
                  </a:solidFill>
                  <a:latin typeface="IBM Plex Sans" panose="020B0503050203000203" pitchFamily="34" charset="0"/>
                  <a:cs typeface="Inter"/>
                </a:rPr>
                <a:t>assist</a:t>
              </a:r>
              <a:endParaRPr lang="en-GB" sz="2400" dirty="0">
                <a:latin typeface="IBM Plex Sans" panose="020B0503050203000203" pitchFamily="34" charset="0"/>
              </a:endParaRP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7626053" y="25902642"/>
              <a:ext cx="1495425" cy="651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2D67B3"/>
                  </a:solidFill>
                  <a:latin typeface="IBM Plex Sans SemiBold" panose="020B0503050203000203" pitchFamily="34" charset="0"/>
                  <a:cs typeface="Inter"/>
                </a:rPr>
                <a:t>High</a:t>
              </a:r>
              <a:br>
                <a:rPr sz="2400" dirty="0">
                  <a:latin typeface="IBM Plex Sans" panose="020B0503050203000203" pitchFamily="34" charset="0"/>
                </a:rPr>
              </a:br>
              <a:r>
                <a:rPr lang="en-GB" sz="2400" dirty="0">
                  <a:solidFill>
                    <a:srgbClr val="4D4D4D"/>
                  </a:solidFill>
                  <a:latin typeface="IBM Plex Sans" panose="020B0503050203000203" pitchFamily="34" charset="0"/>
                  <a:cs typeface="Inter"/>
                </a:rPr>
                <a:t>assist</a:t>
              </a:r>
              <a:endParaRPr lang="en-GB" sz="2400" dirty="0">
                <a:latin typeface="IBM Plex Sans" panose="020B0503050203000203" pitchFamily="34" charset="0"/>
              </a:endParaRP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8957547" y="25902642"/>
              <a:ext cx="1872207" cy="651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1F5FAF"/>
                  </a:solidFill>
                  <a:latin typeface="IBM Plex Sans SemiBold" panose="020B0503050203000203" pitchFamily="34" charset="0"/>
                  <a:cs typeface="Inter"/>
                </a:rPr>
                <a:t>Very high</a:t>
              </a:r>
              <a:br>
                <a:rPr sz="2400" dirty="0">
                  <a:latin typeface="IBM Plex Sans" panose="020B0503050203000203" pitchFamily="34" charset="0"/>
                </a:rPr>
              </a:br>
              <a:r>
                <a:rPr lang="en-GB" sz="2400" dirty="0">
                  <a:solidFill>
                    <a:srgbClr val="4D4D4D"/>
                  </a:solidFill>
                  <a:latin typeface="IBM Plex Sans" panose="020B0503050203000203" pitchFamily="34" charset="0"/>
                  <a:cs typeface="Inter"/>
                </a:rPr>
                <a:t>assist</a:t>
              </a:r>
              <a:endParaRPr lang="en-GB" sz="2400" dirty="0">
                <a:latin typeface="IBM Plex Sans" panose="020B0503050203000203" pitchFamily="34" charset="0"/>
              </a:endParaRPr>
            </a:p>
          </p:txBody>
        </p:sp>
      </p:grpSp>
      <p:sp>
        <p:nvSpPr>
          <p:cNvPr id="158" name="Box 158"/>
          <p:cNvSpPr/>
          <p:nvPr/>
        </p:nvSpPr>
        <p:spPr>
          <a:xfrm>
            <a:off x="15554325" y="13592175"/>
            <a:ext cx="13601700" cy="25317450"/>
          </a:xfrm>
          <a:prstGeom prst="rect">
            <a:avLst/>
          </a:prstGeom>
          <a:noFill/>
          <a:ln w="76200">
            <a:solidFill>
              <a:srgbClr val="4D4D4D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59" name="Box 159"/>
          <p:cNvSpPr/>
          <p:nvPr/>
        </p:nvSpPr>
        <p:spPr>
          <a:xfrm>
            <a:off x="15592425" y="13630275"/>
            <a:ext cx="13525500" cy="895350"/>
          </a:xfrm>
          <a:prstGeom prst="rect">
            <a:avLst/>
          </a:prstGeom>
          <a:solidFill>
            <a:srgbClr val="00A3D0">
              <a:alpha val="50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60" name="Text 160"/>
          <p:cNvSpPr txBox="1"/>
          <p:nvPr/>
        </p:nvSpPr>
        <p:spPr>
          <a:xfrm>
            <a:off x="15592425" y="13630275"/>
            <a:ext cx="13544550" cy="933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5025" b="1" dirty="0">
                <a:solidFill>
                  <a:srgbClr val="000000"/>
                </a:solidFill>
                <a:latin typeface="Newsreader 60pt SemiBold" panose="02000000000000000000" pitchFamily="2" charset="0"/>
                <a:cs typeface="Arial"/>
              </a:rPr>
              <a:t>Current Status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6078200" y="14849475"/>
            <a:ext cx="12573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4000" b="1" dirty="0">
                <a:solidFill>
                  <a:srgbClr val="007493"/>
                </a:solidFill>
                <a:latin typeface="Newsreader 60pt SemiBold" panose="02000000000000000000" pitchFamily="2" charset="0"/>
              </a:rPr>
              <a:t>Study 1: knee exoskeleton · paper ready [3]</a:t>
            </a:r>
          </a:p>
        </p:txBody>
      </p:sp>
      <p:sp>
        <p:nvSpPr>
          <p:cNvPr id="162" name="Box 162"/>
          <p:cNvSpPr/>
          <p:nvPr/>
        </p:nvSpPr>
        <p:spPr>
          <a:xfrm>
            <a:off x="16078200" y="15611474"/>
            <a:ext cx="12553950" cy="1362075"/>
          </a:xfrm>
          <a:prstGeom prst="rect">
            <a:avLst/>
          </a:prstGeom>
          <a:solidFill>
            <a:srgbClr val="007493"/>
          </a:solidFill>
          <a:ln>
            <a:noFill/>
          </a:ln>
        </p:spPr>
        <p:txBody>
          <a:bodyPr wrap="square" lIns="180000" tIns="0" rIns="0" bIns="0" rtlCol="0" anchor="ctr">
            <a:noAutofit/>
          </a:bodyPr>
          <a:lstStyle/>
          <a:p>
            <a:r>
              <a:rPr lang="en-GB" sz="3200" b="1" dirty="0">
                <a:solidFill>
                  <a:srgbClr val="FFFFFF"/>
                </a:solidFill>
                <a:latin typeface="IBM Plex Sans SemiBold" panose="020B0503050203000203" pitchFamily="34" charset="0"/>
              </a:rPr>
              <a:t>A unique regional fingerprint of the physical demand imposed by the exoskeleton on the cortical </a:t>
            </a:r>
            <a:r>
              <a:rPr lang="en-DE" sz="3200" b="1" dirty="0">
                <a:solidFill>
                  <a:srgbClr val="FFFFFF"/>
                </a:solidFill>
                <a:latin typeface="IBM Plex Sans SemiBold" panose="020B0503050203000203" pitchFamily="34" charset="0"/>
              </a:rPr>
              <a:t>dynamics</a:t>
            </a:r>
            <a:endParaRPr lang="en-GB" sz="3200" b="1" dirty="0">
              <a:solidFill>
                <a:srgbClr val="FFFFFF"/>
              </a:solidFill>
              <a:latin typeface="IBM Plex Sans SemiBold" panose="020B0503050203000203" pitchFamily="34" charset="0"/>
            </a:endParaRPr>
          </a:p>
        </p:txBody>
      </p:sp>
      <p:pic>
        <p:nvPicPr>
          <p:cNvPr id="172" name="Figure 172" descr="Within-participant correlation of each rated factor and of measured net metabolic cost with how pleasant the walk felt. Walking felt natural +0.81, felt steady +0.69, trust and safety +0.82, device felt part of my body +0.82 and being in control +0.55 go with a pleasant walk; feeling restricted −0.82 and having to concentrate −0.45 go against it; leg exertion −0.42, breathing exertion −0.30, discomfort −0.08 and net metabolic cost −0.26 matter less; predictability −0.01 varies widely between participa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0107" y="30521551"/>
            <a:ext cx="12097344" cy="5938918"/>
          </a:xfrm>
          <a:prstGeom prst="rect">
            <a:avLst/>
          </a:prstGeom>
        </p:spPr>
      </p:pic>
      <p:sp>
        <p:nvSpPr>
          <p:cNvPr id="175" name="List 175"/>
          <p:cNvSpPr txBox="1"/>
          <p:nvPr/>
        </p:nvSpPr>
        <p:spPr>
          <a:xfrm>
            <a:off x="16078200" y="38157745"/>
            <a:ext cx="12573000" cy="4869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70046" indent="-370046" algn="l">
              <a:lnSpc>
                <a:spcPct val="100826"/>
              </a:lnSpc>
              <a:spcBef>
                <a:spcPts val="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775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Which brain signals carry the </a:t>
            </a:r>
            <a:r>
              <a:rPr lang="en-GB" sz="2775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judgement</a:t>
            </a:r>
            <a:r>
              <a:rPr lang="en-GB" sz="2775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, not only the demand?</a:t>
            </a:r>
            <a:endParaRPr lang="en-GB" sz="2775" dirty="0">
              <a:latin typeface="IBM Plex Sans" panose="020B0503050203000203" pitchFamily="34" charset="0"/>
            </a:endParaRPr>
          </a:p>
        </p:txBody>
      </p:sp>
      <p:sp>
        <p:nvSpPr>
          <p:cNvPr id="176" name="Box 176"/>
          <p:cNvSpPr/>
          <p:nvPr/>
        </p:nvSpPr>
        <p:spPr>
          <a:xfrm>
            <a:off x="1114425" y="32431755"/>
            <a:ext cx="13601700" cy="6477870"/>
          </a:xfrm>
          <a:prstGeom prst="rect">
            <a:avLst/>
          </a:prstGeom>
          <a:noFill/>
          <a:ln w="76200">
            <a:solidFill>
              <a:srgbClr val="4D4D4D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77" name="Box 177"/>
          <p:cNvSpPr/>
          <p:nvPr/>
        </p:nvSpPr>
        <p:spPr>
          <a:xfrm>
            <a:off x="1152525" y="32431755"/>
            <a:ext cx="13525500" cy="1285875"/>
          </a:xfrm>
          <a:prstGeom prst="rect">
            <a:avLst/>
          </a:prstGeom>
          <a:solidFill>
            <a:srgbClr val="00A3D0">
              <a:alpha val="50000"/>
            </a:srgb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78" name="Text 178"/>
          <p:cNvSpPr txBox="1"/>
          <p:nvPr/>
        </p:nvSpPr>
        <p:spPr>
          <a:xfrm>
            <a:off x="1152525" y="32431755"/>
            <a:ext cx="13544550" cy="1274364"/>
          </a:xfrm>
          <a:prstGeom prst="rect">
            <a:avLst/>
          </a:prstGeom>
          <a:noFill/>
          <a:ln>
            <a:noFill/>
          </a:ln>
        </p:spPr>
        <p:txBody>
          <a:bodyPr wrap="square" lIns="228600" tIns="95250" rIns="228600" bIns="95250" rtlCol="0" anchor="t">
            <a:noAutofit/>
          </a:bodyPr>
          <a:lstStyle/>
          <a:p>
            <a:pPr algn="ctr">
              <a:lnSpc>
                <a:spcPct val="95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50" b="1" dirty="0">
                <a:solidFill>
                  <a:srgbClr val="000000"/>
                </a:solidFill>
                <a:latin typeface="Newsreader 60pt SemiBold" panose="02000000000000000000" pitchFamily="2" charset="0"/>
                <a:cs typeface="Arial"/>
              </a:rPr>
              <a:t>How Could Others Help Me? </a:t>
            </a:r>
            <a:br>
              <a:rPr dirty="0">
                <a:latin typeface="Newsreader 60pt SemiBold" panose="02000000000000000000" pitchFamily="2" charset="0"/>
              </a:rPr>
            </a:br>
            <a:r>
              <a:rPr lang="en-GB" sz="3750" b="1" dirty="0">
                <a:solidFill>
                  <a:srgbClr val="000000"/>
                </a:solidFill>
                <a:latin typeface="Newsreader 60pt SemiBold" panose="02000000000000000000" pitchFamily="2" charset="0"/>
                <a:cs typeface="Arial"/>
              </a:rPr>
              <a:t>How Could Others Benefit From my Research?</a:t>
            </a:r>
            <a:endParaRPr lang="en-GB" sz="3750" dirty="0">
              <a:latin typeface="Newsreader 60pt SemiBold" panose="02000000000000000000" pitchFamily="2" charset="0"/>
            </a:endParaRPr>
          </a:p>
        </p:txBody>
      </p:sp>
      <p:sp>
        <p:nvSpPr>
          <p:cNvPr id="179" name="Text 179"/>
          <p:cNvSpPr txBox="1"/>
          <p:nvPr/>
        </p:nvSpPr>
        <p:spPr>
          <a:xfrm>
            <a:off x="1638300" y="33883508"/>
            <a:ext cx="4428679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007493"/>
                </a:solidFill>
                <a:latin typeface="Newsreader 60pt Medium" panose="02000000000000000000" pitchFamily="2" charset="0"/>
                <a:cs typeface="Inter"/>
              </a:rPr>
              <a:t>I am looking for…</a:t>
            </a:r>
            <a:endParaRPr lang="en-GB" sz="3600" dirty="0">
              <a:latin typeface="Newsreader 60pt Medium" panose="02000000000000000000" pitchFamily="2" charset="0"/>
            </a:endParaRPr>
          </a:p>
        </p:txBody>
      </p:sp>
      <p:sp>
        <p:nvSpPr>
          <p:cNvPr id="181" name="Box 181"/>
          <p:cNvSpPr/>
          <p:nvPr/>
        </p:nvSpPr>
        <p:spPr>
          <a:xfrm>
            <a:off x="1638300" y="35839770"/>
            <a:ext cx="12553950" cy="38100"/>
          </a:xfrm>
          <a:prstGeom prst="rect">
            <a:avLst/>
          </a:prstGeom>
          <a:solidFill>
            <a:srgbClr val="00A3D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sz="1000" dirty="0"/>
          </a:p>
        </p:txBody>
      </p:sp>
      <p:sp>
        <p:nvSpPr>
          <p:cNvPr id="182" name="Text 182"/>
          <p:cNvSpPr txBox="1"/>
          <p:nvPr/>
        </p:nvSpPr>
        <p:spPr>
          <a:xfrm>
            <a:off x="1647819" y="36149906"/>
            <a:ext cx="3768728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007493"/>
                </a:solidFill>
                <a:latin typeface="Newsreader 60pt Medium" panose="02000000000000000000" pitchFamily="2" charset="0"/>
              </a:rPr>
              <a:t>I can offer…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1076325" y="39244388"/>
            <a:ext cx="28136850" cy="7066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74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4D4D4D"/>
                </a:solidFill>
                <a:latin typeface="IBM Plex Sans" panose="020B0503050203000203" pitchFamily="34" charset="0"/>
                <a:cs typeface="Inter"/>
              </a:rPr>
              <a:t>[1] Sawicki et al. (2020) J NeuroEng Rehabil 17:25. [2] Ingraham, Remy &amp; Rouse (2022) Sci Robot 7:eabj3487. [3] Khosrotabar, Gramann, Seyfarth, Vogt &amp; Sharbafi. Sensorimotor cortex reflects human-exoskeleton interaction level (manuscript). [4] Bakdash &amp; Marusich (2017) Front Psychol 8:456.</a:t>
            </a:r>
            <a:endParaRPr lang="en-GB" sz="2400" dirty="0">
              <a:latin typeface="IBM Plex Sans" panose="020B0503050203000203" pitchFamily="34" charset="0"/>
            </a:endParaRPr>
          </a:p>
        </p:txBody>
      </p:sp>
      <p:pic>
        <p:nvPicPr>
          <p:cNvPr id="3" name="Figure 165" descr="Right sensorimotor cortex: dipole locations and scalp map of the source cluster, and time-frequency maps over the movement cycle for low, medium and high demand. Alpha and beta power drop progressively from low to high demand, and the RM-ANOVA mask shows a large significant region in the alpha and beta bands">
            <a:extLst>
              <a:ext uri="{FF2B5EF4-FFF2-40B4-BE49-F238E27FC236}">
                <a16:creationId xmlns:a16="http://schemas.microsoft.com/office/drawing/2014/main" id="{76779C66-7AF2-1306-E058-CB3079EDCB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878"/>
          <a:stretch>
            <a:fillRect/>
          </a:stretch>
        </p:blipFill>
        <p:spPr>
          <a:xfrm>
            <a:off x="18684022" y="18185110"/>
            <a:ext cx="9633429" cy="2867025"/>
          </a:xfrm>
          <a:prstGeom prst="rect">
            <a:avLst/>
          </a:prstGeom>
        </p:spPr>
      </p:pic>
      <p:pic>
        <p:nvPicPr>
          <p:cNvPr id="5" name="Figure 165" descr="Right sensorimotor cortex: dipole locations and scalp map of the source cluster, and time-frequency maps over the movement cycle for low, medium and high demand. Alpha and beta power drop progressively from low to high demand, and the RM-ANOVA mask shows a large significant region in the alpha and beta bands">
            <a:extLst>
              <a:ext uri="{FF2B5EF4-FFF2-40B4-BE49-F238E27FC236}">
                <a16:creationId xmlns:a16="http://schemas.microsoft.com/office/drawing/2014/main" id="{248E4563-52CC-5493-63E5-CB754DADE7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6394" b="42233"/>
          <a:stretch>
            <a:fillRect/>
          </a:stretch>
        </p:blipFill>
        <p:spPr>
          <a:xfrm>
            <a:off x="16476931" y="18562719"/>
            <a:ext cx="2207091" cy="2373976"/>
          </a:xfrm>
          <a:prstGeom prst="rect">
            <a:avLst/>
          </a:prstGeom>
        </p:spPr>
      </p:pic>
      <p:pic>
        <p:nvPicPr>
          <p:cNvPr id="7" name="Figure 167" descr="Left parieto-occipital cortex: dipole locations and scalp map of the source cluster, and time-frequency maps over the movement cycle for low, medium and high demand. Theta power rises and falls twice per cycle in the same way at all levels, and the RM-ANOVA shows no significant clusters">
            <a:extLst>
              <a:ext uri="{FF2B5EF4-FFF2-40B4-BE49-F238E27FC236}">
                <a16:creationId xmlns:a16="http://schemas.microsoft.com/office/drawing/2014/main" id="{E69B56E5-B103-4FCB-CBF8-2D2CD7EAF0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094"/>
          <a:stretch>
            <a:fillRect/>
          </a:stretch>
        </p:blipFill>
        <p:spPr>
          <a:xfrm>
            <a:off x="18580192" y="22251375"/>
            <a:ext cx="9737259" cy="2770716"/>
          </a:xfrm>
          <a:prstGeom prst="rect">
            <a:avLst/>
          </a:prstGeom>
        </p:spPr>
      </p:pic>
      <p:pic>
        <p:nvPicPr>
          <p:cNvPr id="9" name="Figure 167" descr="Left parieto-occipital cortex: dipole locations and scalp map of the source cluster, and time-frequency maps over the movement cycle for low, medium and high demand. Theta power rises and falls twice per cycle in the same way at all levels, and the RM-ANOVA shows no significant clusters">
            <a:extLst>
              <a:ext uri="{FF2B5EF4-FFF2-40B4-BE49-F238E27FC236}">
                <a16:creationId xmlns:a16="http://schemas.microsoft.com/office/drawing/2014/main" id="{FA1FE36A-0569-0C9B-6DA5-CFCAD320CC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87609" b="45423"/>
          <a:stretch>
            <a:fillRect/>
          </a:stretch>
        </p:blipFill>
        <p:spPr>
          <a:xfrm>
            <a:off x="16466932" y="22659949"/>
            <a:ext cx="2140554" cy="23046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95B468-BD75-B8A7-A096-03878672333D}"/>
              </a:ext>
            </a:extLst>
          </p:cNvPr>
          <p:cNvSpPr txBox="1"/>
          <p:nvPr/>
        </p:nvSpPr>
        <p:spPr>
          <a:xfrm>
            <a:off x="1638299" y="30283702"/>
            <a:ext cx="12637592" cy="913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90048" indent="-390048" algn="l">
              <a:lnSpc>
                <a:spcPct val="100826"/>
              </a:lnSpc>
              <a:spcBef>
                <a:spcPts val="90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Dual functionality: 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the exoskeleton assists, and its six modes probe how brain and body respond</a:t>
            </a:r>
            <a:endParaRPr lang="en-GB" sz="2900" dirty="0">
              <a:latin typeface="IBM Plex Sans" panose="020B050305020300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7A621-6C43-800C-1780-A3F0296B4D8A}"/>
              </a:ext>
            </a:extLst>
          </p:cNvPr>
          <p:cNvSpPr txBox="1"/>
          <p:nvPr/>
        </p:nvSpPr>
        <p:spPr>
          <a:xfrm>
            <a:off x="1638297" y="28668684"/>
            <a:ext cx="8893178" cy="1379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90048" indent="-390048" algn="l">
              <a:lnSpc>
                <a:spcPct val="100826"/>
              </a:lnSpc>
              <a:spcBef>
                <a:spcPts val="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Dual evaluation:</a:t>
            </a:r>
            <a:r>
              <a:rPr lang="en-GB" sz="2900" dirty="0">
                <a:solidFill>
                  <a:srgbClr val="1F1F1F"/>
                </a:solidFill>
                <a:latin typeface="Newsreader 60pt Medium" panose="02000000000000000000" pitchFamily="2" charset="0"/>
                <a:cs typeface="Inter"/>
              </a:rPr>
              <a:t> 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expert measures (EEG, muscles, energy,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gait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kinematics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) linked to each user’s own judgement</a:t>
            </a:r>
            <a:endParaRPr lang="en-GB" sz="2900" dirty="0">
              <a:latin typeface="IBM Plex Sans" panose="020B050305020300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9F77F-0C3B-E570-B284-19B60FAE8E36}"/>
              </a:ext>
            </a:extLst>
          </p:cNvPr>
          <p:cNvSpPr txBox="1"/>
          <p:nvPr/>
        </p:nvSpPr>
        <p:spPr>
          <a:xfrm>
            <a:off x="15976003" y="25292694"/>
            <a:ext cx="12194311" cy="532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3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Behaviour: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Perceived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difficulty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increased from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1.8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to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7.0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unit</a:t>
            </a:r>
            <a:endParaRPr lang="en-GB" sz="2900" dirty="0">
              <a:latin typeface="IBM Plex Sans" panose="020B050305020300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E43CF3-0A0D-6591-80B3-12DA39DDEEE7}"/>
              </a:ext>
            </a:extLst>
          </p:cNvPr>
          <p:cNvGrpSpPr/>
          <p:nvPr/>
        </p:nvGrpSpPr>
        <p:grpSpPr>
          <a:xfrm>
            <a:off x="17068204" y="7172176"/>
            <a:ext cx="10601175" cy="5161704"/>
            <a:chOff x="17733912" y="7025534"/>
            <a:chExt cx="10601175" cy="5161704"/>
          </a:xfrm>
        </p:grpSpPr>
        <p:sp>
          <p:nvSpPr>
            <p:cNvPr id="116" name="Text 116"/>
            <p:cNvSpPr txBox="1"/>
            <p:nvPr/>
          </p:nvSpPr>
          <p:spPr>
            <a:xfrm>
              <a:off x="18547629" y="9677400"/>
              <a:ext cx="89737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75" dirty="0">
                  <a:solidFill>
                    <a:srgbClr val="4D4D4D"/>
                  </a:solidFill>
                  <a:latin typeface="Newsreader 24pt" panose="02000000000000000000" pitchFamily="2" charset="0"/>
                  <a:cs typeface="Inter"/>
                </a:rPr>
                <a:t>Which terms matter, and how much, for each person?</a:t>
              </a:r>
              <a:endParaRPr lang="en-GB" sz="2775" dirty="0">
                <a:latin typeface="Newsreader 24pt" panose="02000000000000000000" pitchFamily="2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A5F24DB-8AD0-190F-17D8-35237A670255}"/>
                </a:ext>
              </a:extLst>
            </p:cNvPr>
            <p:cNvGrpSpPr/>
            <p:nvPr/>
          </p:nvGrpSpPr>
          <p:grpSpPr>
            <a:xfrm>
              <a:off x="17733912" y="10367963"/>
              <a:ext cx="10601175" cy="1819275"/>
              <a:chOff x="17733836" y="10367963"/>
              <a:chExt cx="10601175" cy="1819275"/>
            </a:xfrm>
          </p:grpSpPr>
          <p:sp>
            <p:nvSpPr>
              <p:cNvPr id="117" name="Box 117"/>
              <p:cNvSpPr/>
              <p:nvPr/>
            </p:nvSpPr>
            <p:spPr>
              <a:xfrm>
                <a:off x="17733836" y="10367963"/>
                <a:ext cx="3349525" cy="800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28575">
                <a:solidFill>
                  <a:srgbClr val="007493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DE" sz="3000" dirty="0">
                    <a:latin typeface="Newsreader 24pt SemiBold" panose="02000000000000000000" pitchFamily="2" charset="0"/>
                  </a:rPr>
                  <a:t>Energy</a:t>
                </a:r>
                <a:endParaRPr lang="en-GB" sz="3000" dirty="0">
                  <a:latin typeface="Newsreader 24pt SemiBold" panose="02000000000000000000" pitchFamily="2" charset="0"/>
                </a:endParaRPr>
              </a:p>
            </p:txBody>
          </p:sp>
          <p:sp>
            <p:nvSpPr>
              <p:cNvPr id="119" name="Box 119"/>
              <p:cNvSpPr/>
              <p:nvPr/>
            </p:nvSpPr>
            <p:spPr>
              <a:xfrm>
                <a:off x="21359587" y="10367963"/>
                <a:ext cx="3349674" cy="800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28575">
                <a:solidFill>
                  <a:srgbClr val="007493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DE" sz="3000" dirty="0">
                    <a:latin typeface="Newsreader 24pt SemiBold" panose="02000000000000000000" pitchFamily="2" charset="0"/>
                  </a:rPr>
                  <a:t>Muscle Effort</a:t>
                </a:r>
                <a:endParaRPr lang="en-GB" sz="3000" dirty="0">
                  <a:latin typeface="Newsreader 24pt SemiBold" panose="02000000000000000000" pitchFamily="2" charset="0"/>
                </a:endParaRPr>
              </a:p>
            </p:txBody>
          </p:sp>
          <p:sp>
            <p:nvSpPr>
              <p:cNvPr id="121" name="Box 121"/>
              <p:cNvSpPr/>
              <p:nvPr/>
            </p:nvSpPr>
            <p:spPr>
              <a:xfrm>
                <a:off x="24985486" y="10367963"/>
                <a:ext cx="3349525" cy="800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28575">
                <a:solidFill>
                  <a:srgbClr val="007493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DE" sz="3000" dirty="0">
                    <a:latin typeface="Newsreader 24pt SemiBold" panose="02000000000000000000" pitchFamily="2" charset="0"/>
                  </a:rPr>
                  <a:t>Stability</a:t>
                </a:r>
                <a:endParaRPr lang="en-GB" sz="3000" dirty="0">
                  <a:latin typeface="Newsreader 24pt SemiBold" panose="02000000000000000000" pitchFamily="2" charset="0"/>
                </a:endParaRPr>
              </a:p>
            </p:txBody>
          </p:sp>
          <p:sp>
            <p:nvSpPr>
              <p:cNvPr id="123" name="Box 123"/>
              <p:cNvSpPr/>
              <p:nvPr/>
            </p:nvSpPr>
            <p:spPr>
              <a:xfrm>
                <a:off x="17733836" y="11387138"/>
                <a:ext cx="3349525" cy="800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28575">
                <a:solidFill>
                  <a:srgbClr val="007493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DE" sz="3000" dirty="0">
                    <a:latin typeface="Newsreader 24pt SemiBold" panose="02000000000000000000" pitchFamily="2" charset="0"/>
                  </a:rPr>
                  <a:t>Naturalness</a:t>
                </a:r>
                <a:endParaRPr lang="en-GB" sz="3000" dirty="0">
                  <a:latin typeface="Newsreader 24pt SemiBold" panose="02000000000000000000" pitchFamily="2" charset="0"/>
                </a:endParaRPr>
              </a:p>
            </p:txBody>
          </p:sp>
          <p:sp>
            <p:nvSpPr>
              <p:cNvPr id="125" name="Box 125"/>
              <p:cNvSpPr/>
              <p:nvPr/>
            </p:nvSpPr>
            <p:spPr>
              <a:xfrm>
                <a:off x="21359587" y="11387138"/>
                <a:ext cx="3349674" cy="800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28575">
                <a:solidFill>
                  <a:srgbClr val="007493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DE" sz="3000" dirty="0">
                    <a:latin typeface="Newsreader 24pt SemiBold" panose="02000000000000000000" pitchFamily="2" charset="0"/>
                  </a:rPr>
                  <a:t>Predictability</a:t>
                </a:r>
                <a:endParaRPr lang="en-GB" sz="3000" dirty="0">
                  <a:latin typeface="Newsreader 24pt SemiBold" panose="02000000000000000000" pitchFamily="2" charset="0"/>
                </a:endParaRPr>
              </a:p>
            </p:txBody>
          </p:sp>
          <p:sp>
            <p:nvSpPr>
              <p:cNvPr id="127" name="Box 127"/>
              <p:cNvSpPr/>
              <p:nvPr/>
            </p:nvSpPr>
            <p:spPr>
              <a:xfrm>
                <a:off x="24985486" y="11387138"/>
                <a:ext cx="3349525" cy="800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28575">
                <a:solidFill>
                  <a:srgbClr val="007493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DE" sz="3000" dirty="0">
                    <a:latin typeface="Newsreader 24pt SemiBold" panose="02000000000000000000" pitchFamily="2" charset="0"/>
                  </a:rPr>
                  <a:t>Control</a:t>
                </a:r>
                <a:endParaRPr lang="en-GB" sz="3000" dirty="0">
                  <a:latin typeface="Newsreader 24pt SemiBold" panose="02000000000000000000" pitchFamily="2" charset="0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D93FBED-2AA3-9C51-194F-559EA0A7E93A}"/>
                </a:ext>
              </a:extLst>
            </p:cNvPr>
            <p:cNvSpPr txBox="1"/>
            <p:nvPr/>
          </p:nvSpPr>
          <p:spPr>
            <a:xfrm>
              <a:off x="18111460" y="7590567"/>
              <a:ext cx="9846079" cy="9810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5775" dirty="0">
                  <a:solidFill>
                    <a:srgbClr val="1F1F1F"/>
                  </a:solidFill>
                  <a:latin typeface="Newsreader 60pt Medium" panose="02000000000000000000" pitchFamily="2" charset="0"/>
                  <a:cs typeface="Inter"/>
                </a:rPr>
                <a:t>Judgement = Σ </a:t>
              </a:r>
              <a:r>
                <a:rPr lang="en-GB" sz="5775" i="1" dirty="0">
                  <a:solidFill>
                    <a:srgbClr val="007493"/>
                  </a:solidFill>
                  <a:latin typeface="Newsreader 60pt Medium" panose="02000000000000000000" pitchFamily="2" charset="0"/>
                  <a:cs typeface="Inter"/>
                </a:rPr>
                <a:t>w</a:t>
              </a:r>
              <a:r>
                <a:rPr lang="en-GB" sz="4813" i="1" baseline="-25000" dirty="0">
                  <a:solidFill>
                    <a:srgbClr val="007493"/>
                  </a:solidFill>
                  <a:latin typeface="Newsreader 60pt Medium" panose="02000000000000000000" pitchFamily="2" charset="0"/>
                  <a:cs typeface="Inter"/>
                </a:rPr>
                <a:t>i</a:t>
              </a:r>
              <a:r>
                <a:rPr lang="en-GB" sz="5775" dirty="0">
                  <a:solidFill>
                    <a:srgbClr val="1F1F1F"/>
                  </a:solidFill>
                  <a:latin typeface="Newsreader 60pt Medium" panose="02000000000000000000" pitchFamily="2" charset="0"/>
                  <a:cs typeface="Inter"/>
                </a:rPr>
                <a:t> · term</a:t>
              </a:r>
              <a:r>
                <a:rPr lang="en-GB" sz="4813" baseline="-25000" dirty="0">
                  <a:solidFill>
                    <a:srgbClr val="1F1F1F"/>
                  </a:solidFill>
                  <a:latin typeface="Newsreader 60pt Medium" panose="02000000000000000000" pitchFamily="2" charset="0"/>
                  <a:cs typeface="Inter"/>
                </a:rPr>
                <a:t>i</a:t>
              </a:r>
              <a:endParaRPr lang="en-GB" sz="5775" dirty="0">
                <a:latin typeface="Newsreader 60pt Medium" panose="020000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539CAC-9CCD-A2B1-1880-2450CEBE6D13}"/>
                </a:ext>
              </a:extLst>
            </p:cNvPr>
            <p:cNvSpPr txBox="1"/>
            <p:nvPr/>
          </p:nvSpPr>
          <p:spPr>
            <a:xfrm>
              <a:off x="20288766" y="8425219"/>
              <a:ext cx="5491466" cy="10733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375" i="1" dirty="0">
                  <a:solidFill>
                    <a:srgbClr val="007493"/>
                  </a:solidFill>
                  <a:latin typeface="Newsreader 60pt Medium" panose="02000000000000000000" pitchFamily="2" charset="0"/>
                  <a:cs typeface="Inter"/>
                </a:rPr>
                <a:t>w</a:t>
              </a:r>
              <a:r>
                <a:rPr lang="en-GB" sz="5312" i="1" baseline="-25000" dirty="0">
                  <a:solidFill>
                    <a:srgbClr val="007493"/>
                  </a:solidFill>
                  <a:latin typeface="Newsreader 60pt Medium" panose="02000000000000000000" pitchFamily="2" charset="0"/>
                  <a:cs typeface="Inter"/>
                </a:rPr>
                <a:t>i</a:t>
              </a:r>
              <a:r>
                <a:rPr lang="en-GB" sz="6375" dirty="0">
                  <a:solidFill>
                    <a:srgbClr val="007493"/>
                  </a:solidFill>
                  <a:latin typeface="Newsreader 60pt Medium" panose="02000000000000000000" pitchFamily="2" charset="0"/>
                  <a:cs typeface="Inter"/>
                </a:rPr>
                <a:t> = ?</a:t>
              </a:r>
              <a:endParaRPr lang="en-GB" sz="6375" dirty="0">
                <a:latin typeface="Newsreader 60pt Medium" panose="020000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A7BD3D2-7D51-D3C0-4CFE-4BBA13C5D220}"/>
                </a:ext>
              </a:extLst>
            </p:cNvPr>
            <p:cNvSpPr txBox="1"/>
            <p:nvPr/>
          </p:nvSpPr>
          <p:spPr>
            <a:xfrm>
              <a:off x="19325708" y="7025534"/>
              <a:ext cx="7417583" cy="4962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25" dirty="0">
                  <a:solidFill>
                    <a:srgbClr val="007493"/>
                  </a:solidFill>
                  <a:latin typeface="Newsreader 36pt SemiBold" panose="02000000000000000000" pitchFamily="2" charset="0"/>
                  <a:cs typeface="Inter"/>
                </a:rPr>
                <a:t>THE HUMAN COST FUNCTION</a:t>
              </a:r>
              <a:endParaRPr lang="en-GB" sz="2625" dirty="0">
                <a:latin typeface="Newsreader 36pt SemiBold" panose="02000000000000000000" pitchFamily="2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2899509-D659-E00D-7018-5354FB2C1CD4}"/>
              </a:ext>
            </a:extLst>
          </p:cNvPr>
          <p:cNvSpPr txBox="1"/>
          <p:nvPr/>
        </p:nvSpPr>
        <p:spPr>
          <a:xfrm>
            <a:off x="15860067" y="9092905"/>
            <a:ext cx="20955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DE" sz="2400" dirty="0">
                <a:latin typeface="IBM Plex Sans Medium" panose="020B0503050203000203" pitchFamily="34" charset="0"/>
              </a:rPr>
              <a:t>Scan for the Questionnaire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98145F84-5EEC-5085-B67F-0F0EB7A1D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16051" y="6968374"/>
            <a:ext cx="2095500" cy="20955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1329B59-6B76-1CB3-823A-6C724E7B2C6A}"/>
              </a:ext>
            </a:extLst>
          </p:cNvPr>
          <p:cNvSpPr txBox="1"/>
          <p:nvPr/>
        </p:nvSpPr>
        <p:spPr>
          <a:xfrm>
            <a:off x="16078199" y="37336068"/>
            <a:ext cx="11807204" cy="7040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75" b="1" dirty="0">
                <a:solidFill>
                  <a:srgbClr val="A2441F"/>
                </a:solidFill>
                <a:latin typeface="Newsreader 60pt SemiBold" panose="02000000000000000000" pitchFamily="2" charset="0"/>
                <a:cs typeface="Inter"/>
              </a:rPr>
              <a:t>What remains unclear</a:t>
            </a:r>
            <a:endParaRPr lang="en-GB" sz="3975" dirty="0">
              <a:latin typeface="Newsreader 60pt SemiBold" panose="020000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2BA0E5-D82D-26C4-8A24-4C06F2BC662F}"/>
              </a:ext>
            </a:extLst>
          </p:cNvPr>
          <p:cNvSpPr txBox="1"/>
          <p:nvPr/>
        </p:nvSpPr>
        <p:spPr>
          <a:xfrm>
            <a:off x="8442210" y="17506652"/>
            <a:ext cx="56198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14 participants</a:t>
            </a:r>
            <a:endParaRPr lang="en-DE" sz="2900" dirty="0">
              <a:solidFill>
                <a:srgbClr val="1F1F1F"/>
              </a:solidFill>
              <a:latin typeface="IBM Plex Sans" panose="020B0503050203000203" pitchFamily="34" charset="0"/>
              <a:cs typeface="Inter"/>
            </a:endParaRPr>
          </a:p>
          <a:p>
            <a:pPr marL="457200" indent="-45720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A visuo-motor tracking task 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while the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exoskeleton applies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3 levels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of physical demand</a:t>
            </a:r>
          </a:p>
          <a:p>
            <a:pPr marL="457200" indent="-45720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EEG,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knee flexors and extensors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,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and subjective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evaluations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were recorded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59AE2E4-1DC3-EE22-725B-8211E7F234C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363"/>
          <a:stretch>
            <a:fillRect/>
          </a:stretch>
        </p:blipFill>
        <p:spPr>
          <a:xfrm>
            <a:off x="1866422" y="17393497"/>
            <a:ext cx="2473748" cy="2895495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88340561-51A9-580B-B971-1177B71E3A05}"/>
              </a:ext>
            </a:extLst>
          </p:cNvPr>
          <p:cNvSpPr txBox="1"/>
          <p:nvPr/>
        </p:nvSpPr>
        <p:spPr>
          <a:xfrm rot="20337732">
            <a:off x="3182861" y="20088864"/>
            <a:ext cx="1076845" cy="396664"/>
          </a:xfrm>
          <a:prstGeom prst="rect">
            <a:avLst/>
          </a:prstGeom>
          <a:noFill/>
        </p:spPr>
        <p:txBody>
          <a:bodyPr spcFirstLastPara="1" wrap="square" lIns="36000" tIns="36000" rIns="36000" bIns="36000" numCol="1" rtlCol="0">
            <a:prstTxWarp prst="textArchDown">
              <a:avLst>
                <a:gd name="adj" fmla="val 21263896"/>
              </a:avLst>
            </a:prstTxWarp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1" i="0" u="none" strike="noStrike" kern="0" cap="none" spc="0" normalizeH="0" baseline="0" noProof="0" dirty="0">
                <a:ln>
                  <a:noFill/>
                </a:ln>
                <a:solidFill>
                  <a:srgbClr val="DC3939"/>
                </a:solidFill>
                <a:effectLst/>
                <a:uLnTx/>
                <a:uFillTx/>
                <a:latin typeface="IBM Plex Sans SemiBold" panose="020B0503050203000203" pitchFamily="34" charset="0"/>
                <a:cs typeface="Arial" panose="020B0604020202020204" pitchFamily="34" charset="0"/>
              </a:rPr>
              <a:t>Flexion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BB3CFD2-A8FD-DAAC-473C-51B1F113299A}"/>
              </a:ext>
            </a:extLst>
          </p:cNvPr>
          <p:cNvSpPr txBox="1"/>
          <p:nvPr/>
        </p:nvSpPr>
        <p:spPr>
          <a:xfrm rot="17300839">
            <a:off x="3756726" y="19315323"/>
            <a:ext cx="1278668" cy="499895"/>
          </a:xfrm>
          <a:prstGeom prst="rect">
            <a:avLst/>
          </a:prstGeom>
          <a:noFill/>
        </p:spPr>
        <p:txBody>
          <a:bodyPr spcFirstLastPara="1" wrap="square" lIns="36000" tIns="36000" rIns="36000" bIns="36000" numCol="1" rtlCol="0">
            <a:prstTxWarp prst="textArchDown">
              <a:avLst>
                <a:gd name="adj" fmla="val 799422"/>
              </a:avLst>
            </a:prstTxWarp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1" i="0" u="none" strike="noStrike" kern="0" cap="none" spc="0" normalizeH="0" baseline="0" noProof="0" dirty="0">
                <a:ln>
                  <a:noFill/>
                </a:ln>
                <a:solidFill>
                  <a:srgbClr val="29B95C"/>
                </a:solidFill>
                <a:effectLst/>
                <a:uLnTx/>
                <a:uFillTx/>
                <a:latin typeface="IBM Plex Sans SemiBold" panose="020B0503050203000203" pitchFamily="34" charset="0"/>
                <a:cs typeface="Arial" panose="020B0604020202020204" pitchFamily="34" charset="0"/>
              </a:rPr>
              <a:t>Extension</a:t>
            </a:r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10C65B98-CF97-2EF0-BEDB-ACDC3A3354B2}"/>
              </a:ext>
            </a:extLst>
          </p:cNvPr>
          <p:cNvSpPr>
            <a:spLocks noChangeAspect="1"/>
          </p:cNvSpPr>
          <p:nvPr/>
        </p:nvSpPr>
        <p:spPr>
          <a:xfrm rot="21127776">
            <a:off x="2098275" y="17948289"/>
            <a:ext cx="2437657" cy="2437659"/>
          </a:xfrm>
          <a:prstGeom prst="arc">
            <a:avLst>
              <a:gd name="adj1" fmla="val 21580930"/>
              <a:gd name="adj2" fmla="val 2843731"/>
            </a:avLst>
          </a:prstGeom>
          <a:noFill/>
          <a:ln w="31750" cap="rnd" cmpd="sng" algn="ctr">
            <a:solidFill>
              <a:srgbClr val="29B95C"/>
            </a:solidFill>
            <a:prstDash val="solid"/>
            <a:miter lim="800000"/>
            <a:headEnd type="triangle" w="med" len="med"/>
            <a:tailEnd type="none" w="sm" len="sm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37DB3034-266A-0AA3-05BE-7B12040391B0}"/>
              </a:ext>
            </a:extLst>
          </p:cNvPr>
          <p:cNvSpPr>
            <a:spLocks noChangeAspect="1"/>
          </p:cNvSpPr>
          <p:nvPr/>
        </p:nvSpPr>
        <p:spPr>
          <a:xfrm rot="5696358" flipV="1">
            <a:off x="2098272" y="17948288"/>
            <a:ext cx="2437659" cy="2437657"/>
          </a:xfrm>
          <a:prstGeom prst="arc">
            <a:avLst>
              <a:gd name="adj1" fmla="val 21580930"/>
              <a:gd name="adj2" fmla="val 2608220"/>
            </a:avLst>
          </a:prstGeom>
          <a:noFill/>
          <a:ln w="31750" cap="rnd" cmpd="sng" algn="ctr">
            <a:solidFill>
              <a:srgbClr val="DC3939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29B95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24F1124-DD4D-AF9D-5E65-D55959928FE8}"/>
              </a:ext>
            </a:extLst>
          </p:cNvPr>
          <p:cNvSpPr/>
          <p:nvPr/>
        </p:nvSpPr>
        <p:spPr>
          <a:xfrm>
            <a:off x="4133116" y="19993534"/>
            <a:ext cx="76177" cy="76177"/>
          </a:xfrm>
          <a:prstGeom prst="ellipse">
            <a:avLst/>
          </a:prstGeom>
          <a:solidFill>
            <a:srgbClr val="001ACC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001ACC"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D675821-BB6E-D501-8AFD-ED90117D354A}"/>
              </a:ext>
            </a:extLst>
          </p:cNvPr>
          <p:cNvGrpSpPr/>
          <p:nvPr/>
        </p:nvGrpSpPr>
        <p:grpSpPr>
          <a:xfrm>
            <a:off x="3489792" y="18922970"/>
            <a:ext cx="2787184" cy="1177678"/>
            <a:chOff x="1202150" y="3748429"/>
            <a:chExt cx="1570701" cy="663708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C0C5B7A-B642-D55E-75D2-853E40FD7F07}"/>
                </a:ext>
              </a:extLst>
            </p:cNvPr>
            <p:cNvSpPr/>
            <p:nvPr/>
          </p:nvSpPr>
          <p:spPr>
            <a:xfrm>
              <a:off x="1202150" y="3748439"/>
              <a:ext cx="1570701" cy="663698"/>
            </a:xfrm>
            <a:custGeom>
              <a:avLst/>
              <a:gdLst>
                <a:gd name="csX0" fmla="*/ 0 w 2724150"/>
                <a:gd name="csY0" fmla="*/ 0 h 1022350"/>
                <a:gd name="csX1" fmla="*/ 552450 w 2724150"/>
                <a:gd name="csY1" fmla="*/ 457200 h 1022350"/>
                <a:gd name="csX2" fmla="*/ 1162050 w 2724150"/>
                <a:gd name="csY2" fmla="*/ 69850 h 1022350"/>
                <a:gd name="csX3" fmla="*/ 1905000 w 2724150"/>
                <a:gd name="csY3" fmla="*/ 850900 h 1022350"/>
                <a:gd name="csX4" fmla="*/ 2724150 w 2724150"/>
                <a:gd name="csY4" fmla="*/ 1022350 h 1022350"/>
                <a:gd name="csX0" fmla="*/ 0 w 2587419"/>
                <a:gd name="csY0" fmla="*/ 115851 h 959238"/>
                <a:gd name="csX1" fmla="*/ 415719 w 2587419"/>
                <a:gd name="csY1" fmla="*/ 394088 h 959238"/>
                <a:gd name="csX2" fmla="*/ 1025319 w 2587419"/>
                <a:gd name="csY2" fmla="*/ 6738 h 959238"/>
                <a:gd name="csX3" fmla="*/ 1768269 w 2587419"/>
                <a:gd name="csY3" fmla="*/ 787788 h 959238"/>
                <a:gd name="csX4" fmla="*/ 2587419 w 2587419"/>
                <a:gd name="csY4" fmla="*/ 959238 h 959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87419" h="959238">
                  <a:moveTo>
                    <a:pt x="0" y="115851"/>
                  </a:moveTo>
                  <a:cubicBezTo>
                    <a:pt x="179387" y="338630"/>
                    <a:pt x="244833" y="412274"/>
                    <a:pt x="415719" y="394088"/>
                  </a:cubicBezTo>
                  <a:cubicBezTo>
                    <a:pt x="586606" y="375903"/>
                    <a:pt x="799894" y="-58879"/>
                    <a:pt x="1025319" y="6738"/>
                  </a:cubicBezTo>
                  <a:cubicBezTo>
                    <a:pt x="1250744" y="72355"/>
                    <a:pt x="1507919" y="629038"/>
                    <a:pt x="1768269" y="787788"/>
                  </a:cubicBezTo>
                  <a:cubicBezTo>
                    <a:pt x="2028619" y="946538"/>
                    <a:pt x="2308019" y="952888"/>
                    <a:pt x="2587419" y="959238"/>
                  </a:cubicBezTo>
                </a:path>
              </a:pathLst>
            </a:custGeom>
            <a:noFill/>
            <a:ln w="1905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8A43AAE-7F9F-FFCB-874A-7B67806038E1}"/>
                </a:ext>
              </a:extLst>
            </p:cNvPr>
            <p:cNvSpPr/>
            <p:nvPr/>
          </p:nvSpPr>
          <p:spPr>
            <a:xfrm>
              <a:off x="1208953" y="3748429"/>
              <a:ext cx="1563897" cy="663707"/>
            </a:xfrm>
            <a:custGeom>
              <a:avLst/>
              <a:gdLst>
                <a:gd name="csX0" fmla="*/ 0 w 2724150"/>
                <a:gd name="csY0" fmla="*/ 0 h 1022350"/>
                <a:gd name="csX1" fmla="*/ 552450 w 2724150"/>
                <a:gd name="csY1" fmla="*/ 457200 h 1022350"/>
                <a:gd name="csX2" fmla="*/ 1162050 w 2724150"/>
                <a:gd name="csY2" fmla="*/ 69850 h 1022350"/>
                <a:gd name="csX3" fmla="*/ 1905000 w 2724150"/>
                <a:gd name="csY3" fmla="*/ 850900 h 1022350"/>
                <a:gd name="csX4" fmla="*/ 2724150 w 2724150"/>
                <a:gd name="csY4" fmla="*/ 1022350 h 1022350"/>
                <a:gd name="csX0" fmla="*/ 0 w 2591901"/>
                <a:gd name="csY0" fmla="*/ 119794 h 959248"/>
                <a:gd name="csX1" fmla="*/ 420201 w 2591901"/>
                <a:gd name="csY1" fmla="*/ 394098 h 959248"/>
                <a:gd name="csX2" fmla="*/ 1029801 w 2591901"/>
                <a:gd name="csY2" fmla="*/ 6748 h 959248"/>
                <a:gd name="csX3" fmla="*/ 1772751 w 2591901"/>
                <a:gd name="csY3" fmla="*/ 787798 h 959248"/>
                <a:gd name="csX4" fmla="*/ 2591901 w 2591901"/>
                <a:gd name="csY4" fmla="*/ 959248 h 959248"/>
                <a:gd name="csX0" fmla="*/ 0 w 2576210"/>
                <a:gd name="csY0" fmla="*/ 121765 h 959251"/>
                <a:gd name="csX1" fmla="*/ 404510 w 2576210"/>
                <a:gd name="csY1" fmla="*/ 394101 h 959251"/>
                <a:gd name="csX2" fmla="*/ 1014110 w 2576210"/>
                <a:gd name="csY2" fmla="*/ 6751 h 959251"/>
                <a:gd name="csX3" fmla="*/ 1757060 w 2576210"/>
                <a:gd name="csY3" fmla="*/ 787801 h 959251"/>
                <a:gd name="csX4" fmla="*/ 2576210 w 2576210"/>
                <a:gd name="csY4" fmla="*/ 959251 h 959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76210" h="959251">
                  <a:moveTo>
                    <a:pt x="0" y="121765"/>
                  </a:moveTo>
                  <a:cubicBezTo>
                    <a:pt x="179387" y="344544"/>
                    <a:pt x="235492" y="413270"/>
                    <a:pt x="404510" y="394101"/>
                  </a:cubicBezTo>
                  <a:cubicBezTo>
                    <a:pt x="573528" y="374932"/>
                    <a:pt x="788685" y="-58866"/>
                    <a:pt x="1014110" y="6751"/>
                  </a:cubicBezTo>
                  <a:cubicBezTo>
                    <a:pt x="1239535" y="72368"/>
                    <a:pt x="1496710" y="629051"/>
                    <a:pt x="1757060" y="787801"/>
                  </a:cubicBezTo>
                  <a:cubicBezTo>
                    <a:pt x="2017410" y="946551"/>
                    <a:pt x="2296810" y="952901"/>
                    <a:pt x="2576210" y="959251"/>
                  </a:cubicBezTo>
                </a:path>
              </a:pathLst>
            </a:custGeom>
            <a:noFill/>
            <a:ln w="3175" cap="rnd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634C6B6-54F4-5B1D-F622-8BDB4AD838E7}"/>
              </a:ext>
            </a:extLst>
          </p:cNvPr>
          <p:cNvSpPr/>
          <p:nvPr/>
        </p:nvSpPr>
        <p:spPr>
          <a:xfrm>
            <a:off x="6276979" y="19769243"/>
            <a:ext cx="1689362" cy="665683"/>
          </a:xfrm>
          <a:prstGeom prst="roundRect">
            <a:avLst>
              <a:gd name="adj" fmla="val 12197"/>
            </a:avLst>
          </a:prstGeom>
          <a:solidFill>
            <a:sysClr val="window" lastClr="FFFFFF"/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Air compressor &amp; Pressure valve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38744-3C50-B08A-F307-037871F4A9A7}"/>
              </a:ext>
            </a:extLst>
          </p:cNvPr>
          <p:cNvSpPr txBox="1"/>
          <p:nvPr/>
        </p:nvSpPr>
        <p:spPr>
          <a:xfrm>
            <a:off x="4160896" y="20657021"/>
            <a:ext cx="233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L</a:t>
            </a:r>
            <a:r>
              <a:rPr lang="en-DE" sz="1400" dirty="0">
                <a:solidFill>
                  <a:prstClr val="black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ow demand (P = 1 bar)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F76B11-38CB-7FA8-AA00-BF6EABA03ED7}"/>
              </a:ext>
            </a:extLst>
          </p:cNvPr>
          <p:cNvSpPr txBox="1"/>
          <p:nvPr/>
        </p:nvSpPr>
        <p:spPr>
          <a:xfrm>
            <a:off x="4160896" y="20986001"/>
            <a:ext cx="26480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DE" sz="1400" dirty="0">
                <a:solidFill>
                  <a:prstClr val="black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Medium demand (P = 3 bar)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E60F59-5DE1-98A4-BE10-8A36A88B2384}"/>
              </a:ext>
            </a:extLst>
          </p:cNvPr>
          <p:cNvSpPr txBox="1"/>
          <p:nvPr/>
        </p:nvSpPr>
        <p:spPr>
          <a:xfrm>
            <a:off x="4160896" y="21314981"/>
            <a:ext cx="24922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DE" sz="1400" dirty="0">
                <a:solidFill>
                  <a:prstClr val="black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High demand (P = 6 bar)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0DF80D8-E20D-1D7F-1029-7E54F9CCF2B7}"/>
              </a:ext>
            </a:extLst>
          </p:cNvPr>
          <p:cNvGrpSpPr/>
          <p:nvPr/>
        </p:nvGrpSpPr>
        <p:grpSpPr>
          <a:xfrm>
            <a:off x="3195474" y="21404455"/>
            <a:ext cx="831482" cy="166965"/>
            <a:chOff x="5141567" y="4546052"/>
            <a:chExt cx="490930" cy="9858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8B9AA3C-3B54-B76B-96A7-2F61F64B3AF8}"/>
                </a:ext>
              </a:extLst>
            </p:cNvPr>
            <p:cNvCxnSpPr>
              <a:cxnSpLocks/>
            </p:cNvCxnSpPr>
            <p:nvPr/>
          </p:nvCxnSpPr>
          <p:spPr>
            <a:xfrm>
              <a:off x="5141567" y="4595342"/>
              <a:ext cx="130390" cy="0"/>
            </a:xfrm>
            <a:prstGeom prst="line">
              <a:avLst/>
            </a:prstGeom>
            <a:noFill/>
            <a:ln w="222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0830477-6543-FDC3-385F-50FB3A4A65EC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07" y="4595342"/>
              <a:ext cx="130390" cy="0"/>
            </a:xfrm>
            <a:prstGeom prst="line">
              <a:avLst/>
            </a:prstGeom>
            <a:noFill/>
            <a:ln w="222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B127F6C-22F7-C135-D544-4B2CB78A60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957" y="4546052"/>
              <a:ext cx="233218" cy="98580"/>
            </a:xfrm>
            <a:custGeom>
              <a:avLst/>
              <a:gdLst>
                <a:gd name="csX0" fmla="*/ 162000 w 878567"/>
                <a:gd name="csY0" fmla="*/ 0 h 324000"/>
                <a:gd name="csX1" fmla="*/ 716567 w 878567"/>
                <a:gd name="csY1" fmla="*/ 0 h 324000"/>
                <a:gd name="csX2" fmla="*/ 878567 w 878567"/>
                <a:gd name="csY2" fmla="*/ 162000 h 324000"/>
                <a:gd name="csX3" fmla="*/ 716567 w 878567"/>
                <a:gd name="csY3" fmla="*/ 324000 h 324000"/>
                <a:gd name="csX4" fmla="*/ 162000 w 878567"/>
                <a:gd name="csY4" fmla="*/ 324000 h 324000"/>
                <a:gd name="csX5" fmla="*/ 0 w 878567"/>
                <a:gd name="csY5" fmla="*/ 162000 h 324000"/>
                <a:gd name="csX6" fmla="*/ 162000 w 878567"/>
                <a:gd name="csY6" fmla="*/ 0 h 324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8567" h="324000">
                  <a:moveTo>
                    <a:pt x="162000" y="0"/>
                  </a:moveTo>
                  <a:lnTo>
                    <a:pt x="716567" y="0"/>
                  </a:lnTo>
                  <a:cubicBezTo>
                    <a:pt x="806037" y="0"/>
                    <a:pt x="878567" y="72530"/>
                    <a:pt x="878567" y="162000"/>
                  </a:cubicBezTo>
                  <a:cubicBezTo>
                    <a:pt x="878567" y="251470"/>
                    <a:pt x="806037" y="324000"/>
                    <a:pt x="716567" y="324000"/>
                  </a:cubicBezTo>
                  <a:lnTo>
                    <a:pt x="162000" y="324000"/>
                  </a:lnTo>
                  <a:cubicBezTo>
                    <a:pt x="72530" y="324000"/>
                    <a:pt x="0" y="251470"/>
                    <a:pt x="0" y="162000"/>
                  </a:cubicBezTo>
                  <a:cubicBezTo>
                    <a:pt x="0" y="72530"/>
                    <a:pt x="72530" y="0"/>
                    <a:pt x="162000" y="0"/>
                  </a:cubicBezTo>
                  <a:close/>
                </a:path>
              </a:pathLst>
            </a:custGeom>
            <a:pattFill prst="wdUpDiag">
              <a:fgClr>
                <a:sysClr val="windowText" lastClr="000000"/>
              </a:fgClr>
              <a:bgClr>
                <a:srgbClr val="904256"/>
              </a:bgClr>
            </a:patt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BAB6FB4-BAA4-7A07-9813-1393E4F16311}"/>
              </a:ext>
            </a:extLst>
          </p:cNvPr>
          <p:cNvGrpSpPr/>
          <p:nvPr/>
        </p:nvGrpSpPr>
        <p:grpSpPr>
          <a:xfrm>
            <a:off x="3135941" y="21109319"/>
            <a:ext cx="950548" cy="111118"/>
            <a:chOff x="5106417" y="4412135"/>
            <a:chExt cx="561229" cy="65607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B39DC51-4D80-7D04-25E2-A9B2CCD77479}"/>
                </a:ext>
              </a:extLst>
            </p:cNvPr>
            <p:cNvCxnSpPr>
              <a:cxnSpLocks/>
            </p:cNvCxnSpPr>
            <p:nvPr/>
          </p:nvCxnSpPr>
          <p:spPr>
            <a:xfrm>
              <a:off x="5106417" y="4444938"/>
              <a:ext cx="130390" cy="0"/>
            </a:xfrm>
            <a:prstGeom prst="line">
              <a:avLst/>
            </a:prstGeom>
            <a:noFill/>
            <a:ln w="222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4A39711-EC9D-2DA4-E3A9-1DF0661E07E5}"/>
                </a:ext>
              </a:extLst>
            </p:cNvPr>
            <p:cNvCxnSpPr>
              <a:cxnSpLocks/>
            </p:cNvCxnSpPr>
            <p:nvPr/>
          </p:nvCxnSpPr>
          <p:spPr>
            <a:xfrm>
              <a:off x="5537256" y="4444938"/>
              <a:ext cx="130390" cy="0"/>
            </a:xfrm>
            <a:prstGeom prst="line">
              <a:avLst/>
            </a:prstGeom>
            <a:noFill/>
            <a:ln w="222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05597ED-F6DA-82E7-8E83-835E507D5F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36808" y="4412135"/>
              <a:ext cx="305790" cy="65607"/>
            </a:xfrm>
            <a:custGeom>
              <a:avLst/>
              <a:gdLst>
                <a:gd name="csX0" fmla="*/ 96516 w 949583"/>
                <a:gd name="csY0" fmla="*/ 0 h 216000"/>
                <a:gd name="csX1" fmla="*/ 108000 w 949583"/>
                <a:gd name="csY1" fmla="*/ 0 h 216000"/>
                <a:gd name="csX2" fmla="*/ 841583 w 949583"/>
                <a:gd name="csY2" fmla="*/ 0 h 216000"/>
                <a:gd name="csX3" fmla="*/ 949583 w 949583"/>
                <a:gd name="csY3" fmla="*/ 108000 h 216000"/>
                <a:gd name="csX4" fmla="*/ 841583 w 949583"/>
                <a:gd name="csY4" fmla="*/ 216000 h 216000"/>
                <a:gd name="csX5" fmla="*/ 108000 w 949583"/>
                <a:gd name="csY5" fmla="*/ 216000 h 216000"/>
                <a:gd name="csX6" fmla="*/ 96516 w 949583"/>
                <a:gd name="csY6" fmla="*/ 216000 h 216000"/>
                <a:gd name="csX7" fmla="*/ 96516 w 949583"/>
                <a:gd name="csY7" fmla="*/ 213682 h 216000"/>
                <a:gd name="csX8" fmla="*/ 65961 w 949583"/>
                <a:gd name="csY8" fmla="*/ 207513 h 216000"/>
                <a:gd name="csX9" fmla="*/ 0 w 949583"/>
                <a:gd name="csY9" fmla="*/ 108000 h 216000"/>
                <a:gd name="csX10" fmla="*/ 65961 w 949583"/>
                <a:gd name="csY10" fmla="*/ 8487 h 216000"/>
                <a:gd name="csX11" fmla="*/ 96516 w 949583"/>
                <a:gd name="csY11" fmla="*/ 2319 h 216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49583" h="216000">
                  <a:moveTo>
                    <a:pt x="96516" y="0"/>
                  </a:moveTo>
                  <a:lnTo>
                    <a:pt x="108000" y="0"/>
                  </a:lnTo>
                  <a:lnTo>
                    <a:pt x="841583" y="0"/>
                  </a:lnTo>
                  <a:cubicBezTo>
                    <a:pt x="901230" y="0"/>
                    <a:pt x="949583" y="48353"/>
                    <a:pt x="949583" y="108000"/>
                  </a:cubicBezTo>
                  <a:cubicBezTo>
                    <a:pt x="949583" y="167647"/>
                    <a:pt x="901230" y="216000"/>
                    <a:pt x="841583" y="216000"/>
                  </a:cubicBezTo>
                  <a:lnTo>
                    <a:pt x="108000" y="216000"/>
                  </a:lnTo>
                  <a:lnTo>
                    <a:pt x="96516" y="216000"/>
                  </a:lnTo>
                  <a:lnTo>
                    <a:pt x="96516" y="213682"/>
                  </a:lnTo>
                  <a:lnTo>
                    <a:pt x="65961" y="207513"/>
                  </a:lnTo>
                  <a:cubicBezTo>
                    <a:pt x="27198" y="191118"/>
                    <a:pt x="0" y="152736"/>
                    <a:pt x="0" y="108000"/>
                  </a:cubicBezTo>
                  <a:cubicBezTo>
                    <a:pt x="0" y="63265"/>
                    <a:pt x="27198" y="24883"/>
                    <a:pt x="65961" y="8487"/>
                  </a:cubicBezTo>
                  <a:lnTo>
                    <a:pt x="96516" y="2319"/>
                  </a:lnTo>
                  <a:close/>
                </a:path>
              </a:pathLst>
            </a:custGeom>
            <a:pattFill prst="wdUpDiag">
              <a:fgClr>
                <a:sysClr val="windowText" lastClr="000000"/>
              </a:fgClr>
              <a:bgClr>
                <a:srgbClr val="E29C23"/>
              </a:bgClr>
            </a:patt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41968E8-824D-56C7-F5FB-D68F4B565638}"/>
              </a:ext>
            </a:extLst>
          </p:cNvPr>
          <p:cNvGrpSpPr/>
          <p:nvPr/>
        </p:nvGrpSpPr>
        <p:grpSpPr>
          <a:xfrm>
            <a:off x="3085336" y="20816049"/>
            <a:ext cx="1060966" cy="64802"/>
            <a:chOff x="5073819" y="4273095"/>
            <a:chExt cx="626423" cy="38261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6070CE4-B5EA-B240-4444-B19F5C287CA2}"/>
                </a:ext>
              </a:extLst>
            </p:cNvPr>
            <p:cNvCxnSpPr>
              <a:cxnSpLocks/>
            </p:cNvCxnSpPr>
            <p:nvPr/>
          </p:nvCxnSpPr>
          <p:spPr>
            <a:xfrm>
              <a:off x="5073819" y="4290865"/>
              <a:ext cx="130391" cy="2721"/>
            </a:xfrm>
            <a:prstGeom prst="line">
              <a:avLst/>
            </a:prstGeom>
            <a:noFill/>
            <a:ln w="222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9D555E2-3EA7-4D63-7745-F858A743851E}"/>
                </a:ext>
              </a:extLst>
            </p:cNvPr>
            <p:cNvCxnSpPr>
              <a:cxnSpLocks/>
            </p:cNvCxnSpPr>
            <p:nvPr/>
          </p:nvCxnSpPr>
          <p:spPr>
            <a:xfrm>
              <a:off x="5569851" y="4292225"/>
              <a:ext cx="130391" cy="0"/>
            </a:xfrm>
            <a:prstGeom prst="line">
              <a:avLst/>
            </a:prstGeom>
            <a:noFill/>
            <a:ln w="222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16DAC38-5DBF-8665-DBE2-725F9C8B12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4210" y="4273095"/>
              <a:ext cx="373258" cy="38261"/>
            </a:xfrm>
            <a:custGeom>
              <a:avLst/>
              <a:gdLst>
                <a:gd name="csX0" fmla="*/ 50559 w 1053619"/>
                <a:gd name="csY0" fmla="*/ 0 h 108000"/>
                <a:gd name="csX1" fmla="*/ 54000 w 1053619"/>
                <a:gd name="csY1" fmla="*/ 0 h 108000"/>
                <a:gd name="csX2" fmla="*/ 999619 w 1053619"/>
                <a:gd name="csY2" fmla="*/ 0 h 108000"/>
                <a:gd name="csX3" fmla="*/ 1003060 w 1053619"/>
                <a:gd name="csY3" fmla="*/ 0 h 108000"/>
                <a:gd name="csX4" fmla="*/ 1003060 w 1053619"/>
                <a:gd name="csY4" fmla="*/ 695 h 108000"/>
                <a:gd name="csX5" fmla="*/ 1020638 w 1053619"/>
                <a:gd name="csY5" fmla="*/ 4244 h 108000"/>
                <a:gd name="csX6" fmla="*/ 1053619 w 1053619"/>
                <a:gd name="csY6" fmla="*/ 54000 h 108000"/>
                <a:gd name="csX7" fmla="*/ 1020638 w 1053619"/>
                <a:gd name="csY7" fmla="*/ 103757 h 108000"/>
                <a:gd name="csX8" fmla="*/ 1003060 w 1053619"/>
                <a:gd name="csY8" fmla="*/ 107306 h 108000"/>
                <a:gd name="csX9" fmla="*/ 1003060 w 1053619"/>
                <a:gd name="csY9" fmla="*/ 108000 h 108000"/>
                <a:gd name="csX10" fmla="*/ 999619 w 1053619"/>
                <a:gd name="csY10" fmla="*/ 108000 h 108000"/>
                <a:gd name="csX11" fmla="*/ 54000 w 1053619"/>
                <a:gd name="csY11" fmla="*/ 108000 h 108000"/>
                <a:gd name="csX12" fmla="*/ 50559 w 1053619"/>
                <a:gd name="csY12" fmla="*/ 108000 h 108000"/>
                <a:gd name="csX13" fmla="*/ 50559 w 1053619"/>
                <a:gd name="csY13" fmla="*/ 107306 h 108000"/>
                <a:gd name="csX14" fmla="*/ 32981 w 1053619"/>
                <a:gd name="csY14" fmla="*/ 103757 h 108000"/>
                <a:gd name="csX15" fmla="*/ 0 w 1053619"/>
                <a:gd name="csY15" fmla="*/ 54000 h 108000"/>
                <a:gd name="csX16" fmla="*/ 32981 w 1053619"/>
                <a:gd name="csY16" fmla="*/ 4244 h 108000"/>
                <a:gd name="csX17" fmla="*/ 50559 w 1053619"/>
                <a:gd name="csY17" fmla="*/ 695 h 10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53619" h="108000">
                  <a:moveTo>
                    <a:pt x="50559" y="0"/>
                  </a:moveTo>
                  <a:lnTo>
                    <a:pt x="54000" y="0"/>
                  </a:lnTo>
                  <a:lnTo>
                    <a:pt x="999619" y="0"/>
                  </a:lnTo>
                  <a:lnTo>
                    <a:pt x="1003060" y="0"/>
                  </a:lnTo>
                  <a:lnTo>
                    <a:pt x="1003060" y="695"/>
                  </a:lnTo>
                  <a:lnTo>
                    <a:pt x="1020638" y="4244"/>
                  </a:lnTo>
                  <a:cubicBezTo>
                    <a:pt x="1040020" y="12442"/>
                    <a:pt x="1053619" y="31633"/>
                    <a:pt x="1053619" y="54000"/>
                  </a:cubicBezTo>
                  <a:cubicBezTo>
                    <a:pt x="1053619" y="76367"/>
                    <a:pt x="1040020" y="95559"/>
                    <a:pt x="1020638" y="103757"/>
                  </a:cubicBezTo>
                  <a:lnTo>
                    <a:pt x="1003060" y="107306"/>
                  </a:lnTo>
                  <a:lnTo>
                    <a:pt x="1003060" y="108000"/>
                  </a:lnTo>
                  <a:lnTo>
                    <a:pt x="999619" y="108000"/>
                  </a:lnTo>
                  <a:lnTo>
                    <a:pt x="54000" y="108000"/>
                  </a:lnTo>
                  <a:lnTo>
                    <a:pt x="50559" y="108000"/>
                  </a:lnTo>
                  <a:lnTo>
                    <a:pt x="50559" y="107306"/>
                  </a:lnTo>
                  <a:lnTo>
                    <a:pt x="32981" y="103757"/>
                  </a:lnTo>
                  <a:cubicBezTo>
                    <a:pt x="13599" y="95559"/>
                    <a:pt x="0" y="76367"/>
                    <a:pt x="0" y="54000"/>
                  </a:cubicBezTo>
                  <a:cubicBezTo>
                    <a:pt x="0" y="31633"/>
                    <a:pt x="13599" y="12442"/>
                    <a:pt x="32981" y="4244"/>
                  </a:cubicBezTo>
                  <a:lnTo>
                    <a:pt x="50559" y="695"/>
                  </a:lnTo>
                  <a:close/>
                </a:path>
              </a:pathLst>
            </a:custGeom>
            <a:pattFill prst="wdUpDiag">
              <a:fgClr>
                <a:sysClr val="windowText" lastClr="000000"/>
              </a:fgClr>
              <a:bgClr>
                <a:srgbClr val="006FB0"/>
              </a:bgClr>
            </a:patt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7174A13-EEB1-4494-C34A-D77B6DFFC6BB}"/>
              </a:ext>
            </a:extLst>
          </p:cNvPr>
          <p:cNvSpPr txBox="1"/>
          <p:nvPr/>
        </p:nvSpPr>
        <p:spPr>
          <a:xfrm>
            <a:off x="1746499" y="20940577"/>
            <a:ext cx="1216144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DE" sz="1400" dirty="0">
                <a:solidFill>
                  <a:prstClr val="black"/>
                </a:solidFill>
                <a:latin typeface="IBM Plex Sans" panose="020B0503050203000203" pitchFamily="34" charset="0"/>
              </a:rPr>
              <a:t>Pressurised </a:t>
            </a: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DE" sz="1400" dirty="0">
                <a:solidFill>
                  <a:prstClr val="black"/>
                </a:solidFill>
                <a:latin typeface="IBM Plex Sans" panose="020B0503050203000203" pitchFamily="34" charset="0"/>
              </a:rPr>
              <a:t>PAM shape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F2F9F3A9-5918-4E5F-E788-EEC2952B6AA3}"/>
              </a:ext>
            </a:extLst>
          </p:cNvPr>
          <p:cNvSpPr/>
          <p:nvPr/>
        </p:nvSpPr>
        <p:spPr bwMode="auto">
          <a:xfrm flipV="1">
            <a:off x="6374658" y="20203034"/>
            <a:ext cx="531011" cy="652321"/>
          </a:xfrm>
          <a:prstGeom prst="arc">
            <a:avLst/>
          </a:prstGeom>
          <a:noFill/>
          <a:ln w="31750" cap="rnd" cmpd="sng" algn="ctr">
            <a:solidFill>
              <a:srgbClr val="006FB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8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AEA9F574-9594-BB63-3383-16EE3C0EE100}"/>
              </a:ext>
            </a:extLst>
          </p:cNvPr>
          <p:cNvSpPr/>
          <p:nvPr/>
        </p:nvSpPr>
        <p:spPr bwMode="auto">
          <a:xfrm flipV="1">
            <a:off x="6158884" y="19883049"/>
            <a:ext cx="941990" cy="1298083"/>
          </a:xfrm>
          <a:prstGeom prst="arc">
            <a:avLst>
              <a:gd name="adj1" fmla="val 16200000"/>
              <a:gd name="adj2" fmla="val 21573870"/>
            </a:avLst>
          </a:prstGeom>
          <a:noFill/>
          <a:ln w="31750" cap="rnd" cmpd="sng" algn="ctr">
            <a:solidFill>
              <a:srgbClr val="E29C23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176713"/>
            <a:endParaRPr lang="en-DE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5CCB347B-8549-A999-DBB4-D8FF693E1D36}"/>
              </a:ext>
            </a:extLst>
          </p:cNvPr>
          <p:cNvSpPr/>
          <p:nvPr/>
        </p:nvSpPr>
        <p:spPr bwMode="auto">
          <a:xfrm flipV="1">
            <a:off x="5920897" y="19534237"/>
            <a:ext cx="1396212" cy="1986532"/>
          </a:xfrm>
          <a:prstGeom prst="arc">
            <a:avLst>
              <a:gd name="adj1" fmla="val 16200000"/>
              <a:gd name="adj2" fmla="val 21573870"/>
            </a:avLst>
          </a:prstGeom>
          <a:noFill/>
          <a:ln w="31750" cap="rnd" cmpd="sng" algn="ctr">
            <a:solidFill>
              <a:srgbClr val="90425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176713"/>
            <a:endParaRPr lang="en-DE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13D4CB9-668D-7E3B-9F9A-D4255A985A7A}"/>
              </a:ext>
            </a:extLst>
          </p:cNvPr>
          <p:cNvGrpSpPr>
            <a:grpSpLocks noChangeAspect="1"/>
          </p:cNvGrpSpPr>
          <p:nvPr/>
        </p:nvGrpSpPr>
        <p:grpSpPr>
          <a:xfrm>
            <a:off x="4895097" y="17300997"/>
            <a:ext cx="3550595" cy="2186454"/>
            <a:chOff x="4871715" y="11813475"/>
            <a:chExt cx="2282850" cy="1405777"/>
          </a:xfrm>
        </p:grpSpPr>
        <p:sp>
          <p:nvSpPr>
            <p:cNvPr id="58" name="Text 12">
              <a:extLst>
                <a:ext uri="{FF2B5EF4-FFF2-40B4-BE49-F238E27FC236}">
                  <a16:creationId xmlns:a16="http://schemas.microsoft.com/office/drawing/2014/main" id="{9FF6EB10-BB6C-9527-B7D3-554E9B5960A8}"/>
                </a:ext>
              </a:extLst>
            </p:cNvPr>
            <p:cNvSpPr/>
            <p:nvPr/>
          </p:nvSpPr>
          <p:spPr>
            <a:xfrm>
              <a:off x="5519413" y="12376972"/>
              <a:ext cx="843316" cy="1844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Medium</a:t>
              </a:r>
              <a:endParaRPr lang="en-US" sz="14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59" name="Text 15">
              <a:extLst>
                <a:ext uri="{FF2B5EF4-FFF2-40B4-BE49-F238E27FC236}">
                  <a16:creationId xmlns:a16="http://schemas.microsoft.com/office/drawing/2014/main" id="{5312CDF5-2EFB-827D-3B9D-56BC65F7EC35}"/>
                </a:ext>
              </a:extLst>
            </p:cNvPr>
            <p:cNvSpPr/>
            <p:nvPr/>
          </p:nvSpPr>
          <p:spPr>
            <a:xfrm>
              <a:off x="6311249" y="12437565"/>
              <a:ext cx="843316" cy="1844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4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1EF3D830-B3E3-DC5E-F502-0F72EFDD3A16}"/>
                </a:ext>
              </a:extLst>
            </p:cNvPr>
            <p:cNvSpPr/>
            <p:nvPr/>
          </p:nvSpPr>
          <p:spPr>
            <a:xfrm>
              <a:off x="6311249" y="12616775"/>
              <a:ext cx="843316" cy="2371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6 bar</a:t>
              </a:r>
              <a:endParaRPr lang="en-US" sz="20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5AE51192-6CF8-7D34-7C1E-23C1D5D60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71715" y="12014570"/>
              <a:ext cx="2067750" cy="120468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828BE11-EA5E-139D-BBB2-30B8C786F176}"/>
                </a:ext>
              </a:extLst>
            </p:cNvPr>
            <p:cNvSpPr txBox="1"/>
            <p:nvPr/>
          </p:nvSpPr>
          <p:spPr>
            <a:xfrm>
              <a:off x="5393688" y="11813475"/>
              <a:ext cx="1069877" cy="1385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DE" sz="1400" dirty="0">
                  <a:solidFill>
                    <a:prstClr val="black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Reference Tracking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706B4DA-9320-B823-A3CF-C4BBC48CC9A9}"/>
                </a:ext>
              </a:extLst>
            </p:cNvPr>
            <p:cNvSpPr/>
            <p:nvPr/>
          </p:nvSpPr>
          <p:spPr>
            <a:xfrm>
              <a:off x="4953962" y="12105713"/>
              <a:ext cx="233428" cy="29395"/>
            </a:xfrm>
            <a:prstGeom prst="rect">
              <a:avLst/>
            </a:prstGeom>
            <a:solidFill>
              <a:srgbClr val="7F7FF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65ABFA1-1143-E5B0-4DD7-88C11E10C455}"/>
                </a:ext>
              </a:extLst>
            </p:cNvPr>
            <p:cNvSpPr txBox="1"/>
            <p:nvPr/>
          </p:nvSpPr>
          <p:spPr>
            <a:xfrm>
              <a:off x="5208369" y="12066051"/>
              <a:ext cx="518340" cy="1088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DE" sz="1100" dirty="0">
                  <a:solidFill>
                    <a:prstClr val="black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Knee Angle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67A6D27-14C5-E9ED-9413-A2BA9B67FC18}"/>
                </a:ext>
              </a:extLst>
            </p:cNvPr>
            <p:cNvSpPr/>
            <p:nvPr/>
          </p:nvSpPr>
          <p:spPr>
            <a:xfrm>
              <a:off x="5797937" y="12105713"/>
              <a:ext cx="233428" cy="29395"/>
            </a:xfrm>
            <a:prstGeom prst="rect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C4518D5-1B9C-DCB0-A263-EEC28FCA132E}"/>
                </a:ext>
              </a:extLst>
            </p:cNvPr>
            <p:cNvSpPr txBox="1"/>
            <p:nvPr/>
          </p:nvSpPr>
          <p:spPr>
            <a:xfrm>
              <a:off x="6032374" y="12070569"/>
              <a:ext cx="739312" cy="1088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DE" sz="1100" dirty="0">
                  <a:solidFill>
                    <a:prstClr val="black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Ref. Trajectory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C57F874-6281-9864-3E75-1ECF567CE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6561" y="13056042"/>
              <a:ext cx="53344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7F7F7F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1401CF-066B-B320-F344-491694155539}"/>
                </a:ext>
              </a:extLst>
            </p:cNvPr>
            <p:cNvSpPr txBox="1"/>
            <p:nvPr/>
          </p:nvSpPr>
          <p:spPr>
            <a:xfrm>
              <a:off x="5484565" y="13058017"/>
              <a:ext cx="1411550" cy="148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DE" sz="900" i="1" dirty="0">
                  <a:solidFill>
                    <a:srgbClr val="7F7F7F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Horizontally moving reference path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4A8BF40-5ACF-4D16-2C7D-0656A9C03230}"/>
                </a:ext>
              </a:extLst>
            </p:cNvPr>
            <p:cNvSpPr txBox="1"/>
            <p:nvPr/>
          </p:nvSpPr>
          <p:spPr>
            <a:xfrm rot="16200000">
              <a:off x="5616656" y="12341067"/>
              <a:ext cx="481244" cy="989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DE" sz="1000" b="1" dirty="0">
                  <a:solidFill>
                    <a:srgbClr val="29B9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Extension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69BB5C6-9850-67FC-E2C1-5A495E8C957D}"/>
                </a:ext>
              </a:extLst>
            </p:cNvPr>
            <p:cNvSpPr txBox="1"/>
            <p:nvPr/>
          </p:nvSpPr>
          <p:spPr>
            <a:xfrm rot="16200000">
              <a:off x="5802911" y="12767028"/>
              <a:ext cx="417239" cy="989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DE" sz="1000" b="1" dirty="0">
                  <a:solidFill>
                    <a:srgbClr val="D9541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Flexion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41B65A20-CA4E-BEC1-B9EB-591A3406FB90}"/>
              </a:ext>
            </a:extLst>
          </p:cNvPr>
          <p:cNvSpPr txBox="1"/>
          <p:nvPr/>
        </p:nvSpPr>
        <p:spPr>
          <a:xfrm>
            <a:off x="1638297" y="23277786"/>
            <a:ext cx="9901290" cy="2230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82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900" b="1" dirty="0">
                <a:solidFill>
                  <a:srgbClr val="007493"/>
                </a:solidFill>
                <a:latin typeface="IBM Plex Sans SemiBold" panose="020B0503050203000203" pitchFamily="34" charset="0"/>
                <a:cs typeface="Inter"/>
              </a:rPr>
              <a:t>Brain:</a:t>
            </a: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 </a:t>
            </a:r>
            <a:r>
              <a:rPr lang="en-GB" sz="2900" dirty="0">
                <a:solidFill>
                  <a:srgbClr val="1F1F1F"/>
                </a:solidFill>
                <a:latin typeface="IBM Plex Sans "/>
                <a:cs typeface="Inter"/>
              </a:rPr>
              <a:t>64-channel mobile EEG</a:t>
            </a:r>
            <a:endParaRPr lang="en-DE" sz="2900" dirty="0">
              <a:solidFill>
                <a:srgbClr val="1F1F1F"/>
              </a:solidFill>
              <a:latin typeface="IBM Plex Sans "/>
              <a:cs typeface="Inter"/>
            </a:endParaRPr>
          </a:p>
          <a:p>
            <a:pPr>
              <a:lnSpc>
                <a:spcPct val="100826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2900" b="1" dirty="0">
                <a:solidFill>
                  <a:srgbClr val="007493"/>
                </a:solidFill>
                <a:latin typeface="IBM Plex Sans SemiBold" panose="020B0503050203000203" pitchFamily="34" charset="0"/>
                <a:cs typeface="Inter"/>
              </a:rPr>
              <a:t>Body:</a:t>
            </a: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EMG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,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Kinematics (IMU)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,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GRF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, energy cost</a:t>
            </a:r>
            <a:endParaRPr lang="en-DE" sz="2900" dirty="0">
              <a:solidFill>
                <a:srgbClr val="1F1F1F"/>
              </a:solidFill>
              <a:latin typeface="IBM Plex Sans" panose="020B0503050203000203" pitchFamily="34" charset="0"/>
              <a:cs typeface="Inter"/>
            </a:endParaRPr>
          </a:p>
          <a:p>
            <a:pPr>
              <a:lnSpc>
                <a:spcPct val="100826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2900" b="1" dirty="0">
                <a:solidFill>
                  <a:srgbClr val="007493"/>
                </a:solidFill>
                <a:latin typeface="IBM Plex Sans SemiBold" panose="020B0503050203000203" pitchFamily="34" charset="0"/>
                <a:cs typeface="Inter"/>
              </a:rPr>
              <a:t>Experience:</a:t>
            </a: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Custom-designed questionnaire</a:t>
            </a:r>
          </a:p>
          <a:p>
            <a:pPr>
              <a:lnSpc>
                <a:spcPct val="100826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24 participants, 2 days each, 6 modes:</a:t>
            </a:r>
            <a:endParaRPr lang="en-GB" sz="2900" dirty="0">
              <a:latin typeface="IBM Plex Sans" panose="020B0503050203000203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83CCB1-AA7D-9F9F-2135-FA08F4A3F84A}"/>
              </a:ext>
            </a:extLst>
          </p:cNvPr>
          <p:cNvSpPr txBox="1"/>
          <p:nvPr/>
        </p:nvSpPr>
        <p:spPr>
          <a:xfrm>
            <a:off x="1638297" y="27913368"/>
            <a:ext cx="8749162" cy="611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007493"/>
                </a:solidFill>
                <a:latin typeface="Newsreader 60pt SemiBold" panose="02000000000000000000" pitchFamily="2" charset="0"/>
              </a:rPr>
              <a:t>Link to the LokoAssist core ideas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273EE4D-4AF7-107D-DB03-019C18F38732}"/>
              </a:ext>
            </a:extLst>
          </p:cNvPr>
          <p:cNvSpPr txBox="1"/>
          <p:nvPr/>
        </p:nvSpPr>
        <p:spPr>
          <a:xfrm>
            <a:off x="1638297" y="34619314"/>
            <a:ext cx="12349562" cy="89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70046" indent="-370046" algn="l">
              <a:lnSpc>
                <a:spcPct val="100826"/>
              </a:lnSpc>
              <a:spcBef>
                <a:spcPts val="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50" b="1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Psychology and human factors:</a:t>
            </a:r>
            <a:r>
              <a:rPr lang="en-GB" sz="295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validating short rating scales; agency, embodiment and trust</a:t>
            </a:r>
            <a:endParaRPr lang="en-GB" sz="2950" dirty="0">
              <a:latin typeface="IBM Plex Sans" panose="020B0503050203000203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1FA5009-45DE-20E2-CE30-A62FC3D98BA2}"/>
              </a:ext>
            </a:extLst>
          </p:cNvPr>
          <p:cNvSpPr txBox="1"/>
          <p:nvPr/>
        </p:nvSpPr>
        <p:spPr>
          <a:xfrm>
            <a:off x="1647819" y="36879658"/>
            <a:ext cx="12825535" cy="15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70046" indent="-370046" algn="l">
              <a:lnSpc>
                <a:spcPct val="100826"/>
              </a:lnSpc>
              <a:spcBef>
                <a:spcPts val="100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00" b="1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An open dataset: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brain, body and experience,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different interaction levels</a:t>
            </a:r>
          </a:p>
          <a:p>
            <a:pPr marL="370046" indent="-370046" algn="l">
              <a:lnSpc>
                <a:spcPct val="100826"/>
              </a:lnSpc>
              <a:spcBef>
                <a:spcPts val="100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00" b="1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An open questionnaire</a:t>
            </a: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 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for your own device study</a:t>
            </a:r>
            <a:endParaRPr lang="en-DE" sz="2900" dirty="0">
              <a:latin typeface="IBM Plex Sans" panose="020B0503050203000203" pitchFamily="34" charset="0"/>
            </a:endParaRPr>
          </a:p>
          <a:p>
            <a:pPr marL="370046" indent="-370046" algn="l">
              <a:lnSpc>
                <a:spcPct val="100826"/>
              </a:lnSpc>
              <a:spcBef>
                <a:spcPts val="100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00" b="1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Our mobile brain/body lab:</a:t>
            </a: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 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add EEG and muscle recordings to your study</a:t>
            </a:r>
            <a:endParaRPr lang="en-DE" sz="2900" dirty="0">
              <a:latin typeface="IBM Plex Sans" panose="020B0503050203000203" pitchFamily="34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0206B72-5CA0-D0B7-3AE8-A72297E955B0}"/>
              </a:ext>
            </a:extLst>
          </p:cNvPr>
          <p:cNvSpPr txBox="1"/>
          <p:nvPr/>
        </p:nvSpPr>
        <p:spPr>
          <a:xfrm>
            <a:off x="1076325" y="727223"/>
            <a:ext cx="24360806" cy="2079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89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dirty="0">
                <a:solidFill>
                  <a:srgbClr val="FFFFFF"/>
                </a:solidFill>
                <a:latin typeface="Newsreader 60pt SemiBold" panose="02000000000000000000" pitchFamily="2" charset="0"/>
                <a:cs typeface="Inter"/>
              </a:rPr>
              <a:t>Neuromechanics of Human-Exoskeleton Interaction: </a:t>
            </a:r>
            <a:endParaRPr lang="en-DE" sz="7200" b="1" dirty="0">
              <a:solidFill>
                <a:srgbClr val="FFFFFF"/>
              </a:solidFill>
              <a:latin typeface="Newsreader 60pt SemiBold" panose="02000000000000000000" pitchFamily="2" charset="0"/>
              <a:cs typeface="Inter"/>
            </a:endParaRPr>
          </a:p>
          <a:p>
            <a:pPr algn="l">
              <a:lnSpc>
                <a:spcPct val="8925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7200" b="1" dirty="0">
                <a:solidFill>
                  <a:srgbClr val="FFFFFF"/>
                </a:solidFill>
                <a:latin typeface="Newsreader 60pt SemiBold" panose="02000000000000000000" pitchFamily="2" charset="0"/>
                <a:cs typeface="Inter"/>
              </a:rPr>
              <a:t>Brain, Body and Experience</a:t>
            </a:r>
            <a:endParaRPr lang="en-GB" sz="7200" dirty="0">
              <a:latin typeface="Newsreader 60pt SemiBold" panose="02000000000000000000" pitchFamily="2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E7F520-E278-1B3A-2C56-CC09A6767B2F}"/>
              </a:ext>
            </a:extLst>
          </p:cNvPr>
          <p:cNvSpPr txBox="1"/>
          <p:nvPr/>
        </p:nvSpPr>
        <p:spPr>
          <a:xfrm>
            <a:off x="1076325" y="2918512"/>
            <a:ext cx="25368919" cy="5484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9173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600" dirty="0">
                <a:solidFill>
                  <a:srgbClr val="FFFFFF"/>
                </a:solidFill>
                <a:latin typeface="IBM Plex Sans SemiBold" panose="020B0503050203000203" pitchFamily="34" charset="0"/>
                <a:cs typeface="Inter"/>
              </a:rPr>
              <a:t>Morteza Khosrotabar, Project Area B2</a:t>
            </a:r>
            <a:r>
              <a:rPr lang="en-DE" sz="3600" dirty="0">
                <a:solidFill>
                  <a:srgbClr val="FFFFFF"/>
                </a:solidFill>
                <a:latin typeface="IBM Plex Sans SemiBold" panose="020B0503050203000203" pitchFamily="34" charset="0"/>
                <a:cs typeface="Inter"/>
              </a:rPr>
              <a:t>, </a:t>
            </a:r>
            <a:r>
              <a:rPr lang="en-GB" sz="3600" dirty="0">
                <a:solidFill>
                  <a:srgbClr val="FFFFFF"/>
                </a:solidFill>
                <a:latin typeface="IBM Plex Sans" panose="020B0503050203000203" pitchFamily="34" charset="0"/>
                <a:cs typeface="Inter"/>
              </a:rPr>
              <a:t>Lauflabor Locomotion Laboratory, TU Darmstadt</a:t>
            </a:r>
            <a:endParaRPr lang="en-GB" sz="3600" dirty="0">
              <a:latin typeface="IBM Plex Sans" panose="020B0503050203000203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D7A9F51-9731-BF11-600D-CE02F68375AC}"/>
              </a:ext>
            </a:extLst>
          </p:cNvPr>
          <p:cNvSpPr txBox="1"/>
          <p:nvPr/>
        </p:nvSpPr>
        <p:spPr>
          <a:xfrm>
            <a:off x="16078200" y="17132507"/>
            <a:ext cx="12553950" cy="1015663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007493"/>
                </a:solidFill>
                <a:latin typeface="IBM Plex Sans SemiBold" panose="020B0503050203000203" pitchFamily="34" charset="0"/>
                <a:cs typeface="Inter"/>
              </a:rPr>
              <a:t>Right sensorimotor cortex (n = 12): </a:t>
            </a:r>
            <a:br>
              <a:rPr lang="en-GB" sz="8200" dirty="0">
                <a:latin typeface="IBM Plex Sans SemiBold" panose="020B0503050203000203" pitchFamily="34" charset="0"/>
              </a:rPr>
            </a:b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</a:rPr>
              <a:t>Alpha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&amp;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beta power decrease step by step with demand</a:t>
            </a:r>
            <a:endParaRPr lang="en-GB" sz="2900" dirty="0">
              <a:latin typeface="IBM Plex Sans" panose="020B0503050203000203" pitchFamily="34" charset="0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CD7732A-A3D1-3FF9-3B3F-7EA9AFC87D35}"/>
              </a:ext>
            </a:extLst>
          </p:cNvPr>
          <p:cNvSpPr txBox="1"/>
          <p:nvPr/>
        </p:nvSpPr>
        <p:spPr>
          <a:xfrm>
            <a:off x="16078200" y="21149664"/>
            <a:ext cx="13077825" cy="10156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07493"/>
                </a:solidFill>
                <a:latin typeface="IBM Plex Sans SemiBold" panose="020B0503050203000203" pitchFamily="34" charset="0"/>
                <a:cs typeface="Inter"/>
              </a:rPr>
              <a:t>Left parieto-occipital cortex (n = 13):</a:t>
            </a:r>
            <a:br>
              <a:rPr lang="en-GB" sz="3000" dirty="0">
                <a:latin typeface="IBM Plex Sans" panose="020B0503050203000203" pitchFamily="34" charset="0"/>
              </a:rPr>
            </a:b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Task-locked modulation in theta</a:t>
            </a:r>
            <a:r>
              <a:rPr lang="en-DE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&amp;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 alpha power, independent of the demand</a:t>
            </a:r>
            <a:endParaRPr lang="en-GB" sz="2900" dirty="0">
              <a:latin typeface="IBM Plex Sans" panose="020B0503050203000203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ACCC44B-DAFC-54F3-9A56-61C85BD0FCA6}"/>
              </a:ext>
            </a:extLst>
          </p:cNvPr>
          <p:cNvSpPr/>
          <p:nvPr/>
        </p:nvSpPr>
        <p:spPr bwMode="auto">
          <a:xfrm>
            <a:off x="16078199" y="25939446"/>
            <a:ext cx="3094235" cy="612000"/>
          </a:xfrm>
          <a:prstGeom prst="rect">
            <a:avLst/>
          </a:prstGeom>
          <a:solidFill>
            <a:srgbClr val="5F6B7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2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BM Plex Sans Medium" panose="020B0503050203000203" pitchFamily="34" charset="0"/>
              </a:rPr>
              <a:t>Muscles 26%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765A015-24C4-28B4-C5A7-98120FDEE263}"/>
              </a:ext>
            </a:extLst>
          </p:cNvPr>
          <p:cNvSpPr/>
          <p:nvPr/>
        </p:nvSpPr>
        <p:spPr bwMode="auto">
          <a:xfrm>
            <a:off x="19194667" y="25938352"/>
            <a:ext cx="144016" cy="612000"/>
          </a:xfrm>
          <a:prstGeom prst="rect">
            <a:avLst/>
          </a:prstGeom>
          <a:solidFill>
            <a:srgbClr val="B8C0C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8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35A2B76-7B55-29B8-0228-4DEC26743374}"/>
              </a:ext>
            </a:extLst>
          </p:cNvPr>
          <p:cNvSpPr/>
          <p:nvPr/>
        </p:nvSpPr>
        <p:spPr bwMode="auto">
          <a:xfrm>
            <a:off x="19360916" y="25937219"/>
            <a:ext cx="9030652" cy="612000"/>
          </a:xfrm>
          <a:prstGeom prst="rect">
            <a:avLst/>
          </a:prstGeom>
          <a:solidFill>
            <a:srgbClr val="A2441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4176713"/>
            <a:r>
              <a:rPr lang="en-DE" sz="2700" dirty="0">
                <a:solidFill>
                  <a:schemeClr val="bg1"/>
                </a:solidFill>
                <a:latin typeface="IBM Plex Sans Medium" panose="020B0503050203000203" pitchFamily="34" charset="0"/>
              </a:rPr>
              <a:t>Not explained by muscles or tracking error: 73%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7C41063-D2C9-5D61-6544-A9105223DCC1}"/>
              </a:ext>
            </a:extLst>
          </p:cNvPr>
          <p:cNvSpPr txBox="1"/>
          <p:nvPr/>
        </p:nvSpPr>
        <p:spPr>
          <a:xfrm>
            <a:off x="16078199" y="26923666"/>
            <a:ext cx="12573001" cy="70788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007493"/>
                </a:solidFill>
                <a:latin typeface="Newsreader 60pt SemiBold" panose="02000000000000000000" pitchFamily="2" charset="0"/>
              </a:rPr>
              <a:t>Study 2: hip exoskeleton (pilot, n = 4)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4E7823C-49A3-AA97-2197-3D3D06B46796}"/>
              </a:ext>
            </a:extLst>
          </p:cNvPr>
          <p:cNvSpPr txBox="1"/>
          <p:nvPr/>
        </p:nvSpPr>
        <p:spPr>
          <a:xfrm>
            <a:off x="16078199" y="29887608"/>
            <a:ext cx="12363796" cy="55399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007493"/>
                </a:solidFill>
                <a:latin typeface="IBM Plex Sans SemiBold" panose="020B0503050203000203" pitchFamily="34" charset="0"/>
                <a:cs typeface="Inter"/>
              </a:rPr>
              <a:t>What goes with a pleasant walk? </a:t>
            </a:r>
            <a:r>
              <a:rPr lang="en-GB" sz="3000" b="1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How walking felt, not energy</a:t>
            </a:r>
            <a:endParaRPr lang="en-GB" sz="3000" dirty="0">
              <a:latin typeface="IBM Plex Sans SemiBold" panose="020B0503050203000203" pitchFamily="34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F160471-CE1E-E579-0E28-85FD1553415B}"/>
              </a:ext>
            </a:extLst>
          </p:cNvPr>
          <p:cNvSpPr txBox="1"/>
          <p:nvPr/>
        </p:nvSpPr>
        <p:spPr>
          <a:xfrm>
            <a:off x="16078199" y="27709726"/>
            <a:ext cx="12239252" cy="203100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410051" indent="-410051" algn="l">
              <a:lnSpc>
                <a:spcPct val="100826"/>
              </a:lnSpc>
              <a:spcBef>
                <a:spcPts val="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Compared with zero torque, resisting modes raised energy cost by about 10 to 25%; high assistance saved about 5 %</a:t>
            </a:r>
            <a:endParaRPr lang="en-GB" sz="2900" dirty="0">
              <a:latin typeface="IBM Plex Sans" panose="020B0503050203000203" pitchFamily="34" charset="0"/>
            </a:endParaRPr>
          </a:p>
          <a:p>
            <a:pPr marL="410051" indent="-410051" algn="l">
              <a:lnSpc>
                <a:spcPct val="100826"/>
              </a:lnSpc>
              <a:spcBef>
                <a:spcPts val="1200"/>
              </a:spcBef>
              <a:spcAft>
                <a:spcPts val="0"/>
              </a:spcAft>
              <a:buClr>
                <a:srgbClr val="007493"/>
              </a:buClr>
              <a:buFont typeface="Arial"/>
              <a:buChar char="•"/>
            </a:pP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The </a:t>
            </a:r>
            <a:r>
              <a:rPr lang="en-GB" sz="2900" dirty="0">
                <a:solidFill>
                  <a:srgbClr val="1F1F1F"/>
                </a:solidFill>
                <a:latin typeface="IBM Plex Sans SemiBold" panose="020B0503050203000203" pitchFamily="34" charset="0"/>
                <a:cs typeface="Inter"/>
              </a:rPr>
              <a:t>strongest assistance did not feel like help </a:t>
            </a:r>
            <a:r>
              <a:rPr lang="en-GB" sz="2900" dirty="0">
                <a:solidFill>
                  <a:srgbClr val="1F1F1F"/>
                </a:solidFill>
                <a:latin typeface="IBM Plex Sans" panose="020B0503050203000203" pitchFamily="34" charset="0"/>
                <a:cs typeface="Inter"/>
              </a:rPr>
              <a:t>(3 of 4 rated it as hindering)</a:t>
            </a:r>
            <a:endParaRPr lang="en-GB" sz="2900" dirty="0">
              <a:latin typeface="IBM Plex Sans" panose="020B0503050203000203" pitchFamily="34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2F17569-DCAD-FF95-6943-C2431ED15D7D}"/>
              </a:ext>
            </a:extLst>
          </p:cNvPr>
          <p:cNvSpPr txBox="1"/>
          <p:nvPr/>
        </p:nvSpPr>
        <p:spPr>
          <a:xfrm>
            <a:off x="16078199" y="36659399"/>
            <a:ext cx="12553951" cy="4616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4D4D4D"/>
                </a:solidFill>
                <a:latin typeface="IBM Plex Sans" panose="020B0503050203000203" pitchFamily="34" charset="0"/>
                <a:cs typeface="Inter"/>
              </a:rPr>
              <a:t>Repeated-measures correlation [4]; descriptive only</a:t>
            </a:r>
            <a:endParaRPr lang="en-GB" sz="240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780330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_LC_2008_neues_Layout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oster_LC_2008_neues_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oster_LC_2008_neues_Layo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Words>694</Words>
  <Application>Microsoft Office PowerPoint</Application>
  <PresentationFormat>Custom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7" baseType="lpstr">
      <vt:lpstr>Aptos</vt:lpstr>
      <vt:lpstr>Arial</vt:lpstr>
      <vt:lpstr>Calibri</vt:lpstr>
      <vt:lpstr>Cambria</vt:lpstr>
      <vt:lpstr>IBM Plex Sans</vt:lpstr>
      <vt:lpstr>IBM Plex Sans </vt:lpstr>
      <vt:lpstr>IBM Plex Sans Light</vt:lpstr>
      <vt:lpstr>IBM Plex Sans Medium</vt:lpstr>
      <vt:lpstr>IBM Plex Sans SemiBold</vt:lpstr>
      <vt:lpstr>Inter</vt:lpstr>
      <vt:lpstr>Newsreader 24pt</vt:lpstr>
      <vt:lpstr>Newsreader 24pt SemiBold</vt:lpstr>
      <vt:lpstr>Newsreader 36pt SemiBold</vt:lpstr>
      <vt:lpstr>Newsreader 60pt Medium</vt:lpstr>
      <vt:lpstr>Newsreader 60pt SemiBold</vt:lpstr>
      <vt:lpstr>Poster_LC_2008_neues_Layout</vt:lpstr>
      <vt:lpstr>PowerPoint Presentation</vt:lpstr>
    </vt:vector>
  </TitlesOfParts>
  <Company>TUD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LokoAssist Poster</dc:title>
  <dc:creator>LokoAssist</dc:creator>
  <cp:lastModifiedBy>Morteza Khosrotabar</cp:lastModifiedBy>
  <cp:revision>631</cp:revision>
  <cp:lastPrinted>2025-12-23T11:04:36Z</cp:lastPrinted>
  <dcterms:created xsi:type="dcterms:W3CDTF">2008-05-08T14:55:42Z</dcterms:created>
  <dcterms:modified xsi:type="dcterms:W3CDTF">2026-10-26T04:01:30Z</dcterms:modified>
</cp:coreProperties>
</file>